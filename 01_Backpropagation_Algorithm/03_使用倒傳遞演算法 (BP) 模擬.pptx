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68" r:id="rId15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5934"/>
  </p:normalViewPr>
  <p:slideViewPr>
    <p:cSldViewPr snapToGrid="0">
      <p:cViewPr varScale="1">
        <p:scale>
          <a:sx n="106" d="100"/>
          <a:sy n="106" d="100"/>
        </p:scale>
        <p:origin x="1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16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90691BD9-0E58-4D50-94AE-4B7486744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770F3C-01C2-4281-8020-9D2972A164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4CDEC-1BCA-41A5-9BF0-9FB8E11CCFE5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2025/10/30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83E752E-394D-4F00-BA2F-2539368418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83B729-E854-444A-B170-519654A1FB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2EC96-132F-4D9F-A345-B2219B3250CD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81464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5FFBC91-2FBF-4E04-8436-30629A46C3CF}" type="datetime1">
              <a:rPr lang="zh-TW" altLang="en-US" smtClean="0"/>
              <a:t>2025/10/30</a:t>
            </a:fld>
            <a:endParaRPr 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B8B270D-091D-4ED2-8C85-0898DD7D9F2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1134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4334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0118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2CF2-2CC2-BDC7-B8B9-CCCD068D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C84E6DF-8796-5C66-300D-788006120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125D739-1B8E-05AB-0115-7FB569CC1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DEAD502-5735-54EC-01BE-7507C72C25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9798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B420B-3816-9023-95D1-57A00F2BE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246510A-B565-0822-C3D9-10040F223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610DA3-51D4-2090-D552-B44CE34DF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41A6B5-8CB5-4BDE-1F14-EC3AD7AD0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9692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4218B-D85E-42DB-4C0A-B5284AC4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E39E3D6-D327-1D47-A6B7-C80FE1990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95C66F-5D29-12FA-81D2-F2165A2D4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016D20-97AC-7BA5-001D-D4441BEE6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5968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27F69-DCBF-1048-8D74-361D2721F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4F7DBDA-935B-C1F9-195F-F9D749171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9FE2F7-EF2A-260C-E4E7-797290D17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24A0B3-11FE-91EC-03E8-C90BCE4B5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3992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B902-92EC-C703-90C3-2A32F8358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F9965C-4F0D-C574-D0AA-49545FB04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66B4791-D9D6-4409-80D6-529837046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AF8415-8B24-FB07-A20B-72C26C4F5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3755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C3B4F-36FA-F8A5-45CF-A682BC90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B52618-09EE-667A-E447-F39409E1D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7E11885-BE15-F519-1CCE-F066EEFE8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78868E-4D70-136E-025C-30B383904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28632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3F00-2534-223A-48DF-4BDF9756E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7AFBE1-BC99-86F8-B21C-9C96C5ACB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938C979-AA9D-BD5F-855D-E61B0918C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17B87B-B114-0DA9-03A1-F3F8CD546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0534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B8B270D-091D-4ED2-8C85-0898DD7D9F21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4898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職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22" y="874663"/>
            <a:ext cx="4650901" cy="2334637"/>
          </a:xfrm>
        </p:spPr>
        <p:txBody>
          <a:bodyPr rtlCol="0">
            <a:normAutofit/>
          </a:bodyPr>
          <a:lstStyle>
            <a:lvl1pPr algn="ctr">
              <a:defRPr sz="4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grpSp>
              <p:nvGrpSpPr>
                <p:cNvPr id="78" name="群組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群組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直線接點​​(S)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線接點​​(S)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57" name="群組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群組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solidFill>
                    <a:schemeClr val="tx1"/>
                  </a:solidFill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grpSp>
              <p:nvGrpSpPr>
                <p:cNvPr id="40" name="群組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群組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直線接點​​(S)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線接點​​(S)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19" name="群組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群組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</p:grpSp>
      <p:cxnSp>
        <p:nvCxnSpPr>
          <p:cNvPr id="173" name="直線接點​​(S) 172">
            <a:extLst>
              <a:ext uri="{FF2B5EF4-FFF2-40B4-BE49-F238E27FC236}">
                <a16:creationId xmlns:a16="http://schemas.microsoft.com/office/drawing/2014/main" id="{88D7A558-4107-4032-8E5F-99B445369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384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副標題 2">
            <a:extLst>
              <a:ext uri="{FF2B5EF4-FFF2-40B4-BE49-F238E27FC236}">
                <a16:creationId xmlns:a16="http://schemas.microsoft.com/office/drawing/2014/main" id="{6B5BCC80-B184-4F6C-B3E3-CFC7F4C41C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000" y="4113213"/>
            <a:ext cx="4636800" cy="1655762"/>
          </a:xfrm>
        </p:spPr>
        <p:txBody>
          <a:bodyPr rtlCol="0">
            <a:normAutofit/>
          </a:bodyPr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>
                <a:cs typeface="Calibri"/>
              </a:rPr>
              <a:t>簡報者姓名</a:t>
            </a:r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536573"/>
            <a:ext cx="3856679" cy="1453003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cxnSp>
        <p:nvCxnSpPr>
          <p:cNvPr id="91" name="直線接點​​(S)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791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內容版面配置區 2">
            <a:extLst>
              <a:ext uri="{FF2B5EF4-FFF2-40B4-BE49-F238E27FC236}">
                <a16:creationId xmlns:a16="http://schemas.microsoft.com/office/drawing/2014/main" id="{E4838519-F7BD-42C9-BDE6-B4D6DF7E117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7606" y="2877018"/>
            <a:ext cx="3060000" cy="2938561"/>
          </a:xfrm>
        </p:spPr>
        <p:txBody>
          <a:bodyPr rtlCol="0">
            <a:normAutofit/>
          </a:bodyPr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lvl="0" indent="0" algn="ctr" rtl="0">
              <a:buNone/>
            </a:pPr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000" y="6357168"/>
            <a:ext cx="1480400" cy="46166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6947" y="6357600"/>
            <a:ext cx="6683376" cy="460800"/>
          </a:xfrm>
        </p:spPr>
        <p:txBody>
          <a:bodyPr rtlCol="0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9" name="圖片版面配置區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9987" y="0"/>
            <a:ext cx="7212013" cy="68580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4646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簡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600" y="536573"/>
            <a:ext cx="4078800" cy="1453003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95" name="文字版面配置區 94">
            <a:extLst>
              <a:ext uri="{FF2B5EF4-FFF2-40B4-BE49-F238E27FC236}">
                <a16:creationId xmlns:a16="http://schemas.microsoft.com/office/drawing/2014/main" id="{376C93AE-577A-4E39-B37B-F54DD619E8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175" y="2876550"/>
            <a:ext cx="4819650" cy="2875321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  <a:lvl3pPr marL="720000" indent="0" algn="ctr">
              <a:buNone/>
              <a:defRPr/>
            </a:lvl3pPr>
            <a:lvl4pPr marL="1080000" indent="0" algn="ctr">
              <a:buFont typeface="Arial" panose="020B0604020202020204" pitchFamily="34" charset="0"/>
              <a:buNone/>
              <a:defRPr/>
            </a:lvl4pPr>
            <a:lvl5pPr marL="1440000" indent="0" algn="ctr">
              <a:buNone/>
              <a:defRPr/>
            </a:lvl5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DF41F26-BFC3-471C-AEBF-8D613043F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CD3F709F-F0BC-4149-B83C-D6E0B13F9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26" name="Freeform 64">
                <a:extLst>
                  <a:ext uri="{FF2B5EF4-FFF2-40B4-BE49-F238E27FC236}">
                    <a16:creationId xmlns:a16="http://schemas.microsoft.com/office/drawing/2014/main" id="{5C5EF830-776D-4D9D-B2AD-E2EF27FE2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7" name="Freeform 81">
                <a:extLst>
                  <a:ext uri="{FF2B5EF4-FFF2-40B4-BE49-F238E27FC236}">
                    <a16:creationId xmlns:a16="http://schemas.microsoft.com/office/drawing/2014/main" id="{24555386-DD07-47B5-8731-6188F04409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8" name="Freeform 61">
                <a:extLst>
                  <a:ext uri="{FF2B5EF4-FFF2-40B4-BE49-F238E27FC236}">
                    <a16:creationId xmlns:a16="http://schemas.microsoft.com/office/drawing/2014/main" id="{98AACD5A-587D-4523-8687-E39554A9EE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9" name="Freeform 78">
                <a:extLst>
                  <a:ext uri="{FF2B5EF4-FFF2-40B4-BE49-F238E27FC236}">
                    <a16:creationId xmlns:a16="http://schemas.microsoft.com/office/drawing/2014/main" id="{056E6FE3-AE0B-4665-BDC4-C43B088EA3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0" name="Freeform 84">
                <a:extLst>
                  <a:ext uri="{FF2B5EF4-FFF2-40B4-BE49-F238E27FC236}">
                    <a16:creationId xmlns:a16="http://schemas.microsoft.com/office/drawing/2014/main" id="{3341E111-158B-46EB-85CF-76ACE2E6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1" name="Freeform 87">
                <a:extLst>
                  <a:ext uri="{FF2B5EF4-FFF2-40B4-BE49-F238E27FC236}">
                    <a16:creationId xmlns:a16="http://schemas.microsoft.com/office/drawing/2014/main" id="{B6BAC346-F465-42C1-B326-511CDAAFCD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2" name="Freeform 60">
                <a:extLst>
                  <a:ext uri="{FF2B5EF4-FFF2-40B4-BE49-F238E27FC236}">
                    <a16:creationId xmlns:a16="http://schemas.microsoft.com/office/drawing/2014/main" id="{41EFAE7C-FB00-406B-B543-258ECBA85C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3" name="Freeform 59">
                <a:extLst>
                  <a:ext uri="{FF2B5EF4-FFF2-40B4-BE49-F238E27FC236}">
                    <a16:creationId xmlns:a16="http://schemas.microsoft.com/office/drawing/2014/main" id="{7B8E44F7-B4B5-407F-8CBF-2EF396585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4" name="Freeform 62">
                <a:extLst>
                  <a:ext uri="{FF2B5EF4-FFF2-40B4-BE49-F238E27FC236}">
                    <a16:creationId xmlns:a16="http://schemas.microsoft.com/office/drawing/2014/main" id="{E5CB4BB7-46DD-4D14-AF85-0E13EFBA67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5" name="Freeform 65">
                <a:extLst>
                  <a:ext uri="{FF2B5EF4-FFF2-40B4-BE49-F238E27FC236}">
                    <a16:creationId xmlns:a16="http://schemas.microsoft.com/office/drawing/2014/main" id="{F7F8EDDC-B124-4CF0-9C0B-036D7E9203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6" name="Freeform 79">
                <a:extLst>
                  <a:ext uri="{FF2B5EF4-FFF2-40B4-BE49-F238E27FC236}">
                    <a16:creationId xmlns:a16="http://schemas.microsoft.com/office/drawing/2014/main" id="{F9979D20-23CA-44BF-94E4-277FAA877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7" name="Freeform 82">
                <a:extLst>
                  <a:ext uri="{FF2B5EF4-FFF2-40B4-BE49-F238E27FC236}">
                    <a16:creationId xmlns:a16="http://schemas.microsoft.com/office/drawing/2014/main" id="{64DA53E4-1E27-44B2-9EA5-375E3D20A7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8" name="Freeform 85">
                <a:extLst>
                  <a:ext uri="{FF2B5EF4-FFF2-40B4-BE49-F238E27FC236}">
                    <a16:creationId xmlns:a16="http://schemas.microsoft.com/office/drawing/2014/main" id="{AF41DBD5-F7CA-43C7-B477-6E93D8DC06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9" name="Freeform 88">
                <a:extLst>
                  <a:ext uri="{FF2B5EF4-FFF2-40B4-BE49-F238E27FC236}">
                    <a16:creationId xmlns:a16="http://schemas.microsoft.com/office/drawing/2014/main" id="{8DE355CC-A733-4109-AC9E-4E5E96E355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grpSp>
            <p:nvGrpSpPr>
              <p:cNvPr id="40" name="群組 39">
                <a:extLst>
                  <a:ext uri="{FF2B5EF4-FFF2-40B4-BE49-F238E27FC236}">
                    <a16:creationId xmlns:a16="http://schemas.microsoft.com/office/drawing/2014/main" id="{C60E99C1-AC1B-4267-A404-07CA28EA1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1" name="Line 63">
                  <a:extLst>
                    <a:ext uri="{FF2B5EF4-FFF2-40B4-BE49-F238E27FC236}">
                      <a16:creationId xmlns:a16="http://schemas.microsoft.com/office/drawing/2014/main" id="{46BA754B-AF8C-4E32-B5D4-BD2CA1341E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2" name="Line 66">
                  <a:extLst>
                    <a:ext uri="{FF2B5EF4-FFF2-40B4-BE49-F238E27FC236}">
                      <a16:creationId xmlns:a16="http://schemas.microsoft.com/office/drawing/2014/main" id="{AA7154F4-DAA9-42B8-9C79-E7D89EB926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3" name="Line 67">
                  <a:extLst>
                    <a:ext uri="{FF2B5EF4-FFF2-40B4-BE49-F238E27FC236}">
                      <a16:creationId xmlns:a16="http://schemas.microsoft.com/office/drawing/2014/main" id="{CFCCE002-4181-4663-B8B4-5B5CC711B8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4" name="Line 80">
                  <a:extLst>
                    <a:ext uri="{FF2B5EF4-FFF2-40B4-BE49-F238E27FC236}">
                      <a16:creationId xmlns:a16="http://schemas.microsoft.com/office/drawing/2014/main" id="{B3C1286A-A92F-45A8-A144-C4EBF3B8BC1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5" name="Line 83">
                  <a:extLst>
                    <a:ext uri="{FF2B5EF4-FFF2-40B4-BE49-F238E27FC236}">
                      <a16:creationId xmlns:a16="http://schemas.microsoft.com/office/drawing/2014/main" id="{31993490-8FCD-4048-A2E8-0A217FF656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6" name="Line 86">
                  <a:extLst>
                    <a:ext uri="{FF2B5EF4-FFF2-40B4-BE49-F238E27FC236}">
                      <a16:creationId xmlns:a16="http://schemas.microsoft.com/office/drawing/2014/main" id="{33AF3440-700A-44B0-A0D1-1E6301F187D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47" name="Line 89">
                  <a:extLst>
                    <a:ext uri="{FF2B5EF4-FFF2-40B4-BE49-F238E27FC236}">
                      <a16:creationId xmlns:a16="http://schemas.microsoft.com/office/drawing/2014/main" id="{F17E7CAB-5E29-47AC-91E8-B488D357FBD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D713AE0B-3A03-4CCB-B15E-CAF75D855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18" name="群組 17">
                <a:extLst>
                  <a:ext uri="{FF2B5EF4-FFF2-40B4-BE49-F238E27FC236}">
                    <a16:creationId xmlns:a16="http://schemas.microsoft.com/office/drawing/2014/main" id="{94CC0330-760F-4B4E-BE37-D345B5B2E8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2" name="直線接點​​(S) 21">
                  <a:extLst>
                    <a:ext uri="{FF2B5EF4-FFF2-40B4-BE49-F238E27FC236}">
                      <a16:creationId xmlns:a16="http://schemas.microsoft.com/office/drawing/2014/main" id="{8B6C8306-3715-4107-BA99-68EB308CA19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​​(S) 22">
                  <a:extLst>
                    <a:ext uri="{FF2B5EF4-FFF2-40B4-BE49-F238E27FC236}">
                      <a16:creationId xmlns:a16="http://schemas.microsoft.com/office/drawing/2014/main" id="{5A4B3797-F2A4-43E3-B8F8-8BC4B0FBDE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Rectangle 30">
                  <a:extLst>
                    <a:ext uri="{FF2B5EF4-FFF2-40B4-BE49-F238E27FC236}">
                      <a16:creationId xmlns:a16="http://schemas.microsoft.com/office/drawing/2014/main" id="{BB27766D-84D5-4D02-AE36-3149427B22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5" name="Rectangle 30">
                  <a:extLst>
                    <a:ext uri="{FF2B5EF4-FFF2-40B4-BE49-F238E27FC236}">
                      <a16:creationId xmlns:a16="http://schemas.microsoft.com/office/drawing/2014/main" id="{8F1C8A62-8495-422A-9A73-9C59C603F6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B1CEBFBC-BC6E-4C5F-BEC4-DD2079D8E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69A298F-AA6C-4139-992B-E27C0854615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72AA363-33A2-4979-9DE5-9FA8ACADE0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A3822750-6B8C-4F83-9CAD-F924EF493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58523E1A-71CD-4B09-A4F4-07F86003B4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5" name="Freeform 68">
                  <a:extLst>
                    <a:ext uri="{FF2B5EF4-FFF2-40B4-BE49-F238E27FC236}">
                      <a16:creationId xmlns:a16="http://schemas.microsoft.com/office/drawing/2014/main" id="{169972B1-6443-4F74-80F9-BB4943CD302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6" name="Freeform 69">
                  <a:extLst>
                    <a:ext uri="{FF2B5EF4-FFF2-40B4-BE49-F238E27FC236}">
                      <a16:creationId xmlns:a16="http://schemas.microsoft.com/office/drawing/2014/main" id="{EB69F32F-40CA-458E-B833-E909ADFDD93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" name="Line 70">
                  <a:extLst>
                    <a:ext uri="{FF2B5EF4-FFF2-40B4-BE49-F238E27FC236}">
                      <a16:creationId xmlns:a16="http://schemas.microsoft.com/office/drawing/2014/main" id="{5B2FEC36-803B-49C9-8313-D558457B25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5178F1E3-F49B-4E7A-BA5C-B2BFD9A636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2" name="Freeform 68">
                  <a:extLst>
                    <a:ext uri="{FF2B5EF4-FFF2-40B4-BE49-F238E27FC236}">
                      <a16:creationId xmlns:a16="http://schemas.microsoft.com/office/drawing/2014/main" id="{9F18055A-6D8B-4373-A010-59AE8C8138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" name="Freeform 69">
                  <a:extLst>
                    <a:ext uri="{FF2B5EF4-FFF2-40B4-BE49-F238E27FC236}">
                      <a16:creationId xmlns:a16="http://schemas.microsoft.com/office/drawing/2014/main" id="{2612E838-0F14-4DE7-AD23-6A83078511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4" name="Line 70">
                  <a:extLst>
                    <a:ext uri="{FF2B5EF4-FFF2-40B4-BE49-F238E27FC236}">
                      <a16:creationId xmlns:a16="http://schemas.microsoft.com/office/drawing/2014/main" id="{AF3F8EED-B567-43E0-8B31-5A5E7AFB2DA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952B8C31-9649-4E69-B31C-D77394EE2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69D1249-EDCC-41AC-BA08-E670FB4E3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68" name="Freeform 64">
                <a:extLst>
                  <a:ext uri="{FF2B5EF4-FFF2-40B4-BE49-F238E27FC236}">
                    <a16:creationId xmlns:a16="http://schemas.microsoft.com/office/drawing/2014/main" id="{EA5EA6EB-846A-4897-AE83-5BDD96A4F2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69" name="Freeform 81">
                <a:extLst>
                  <a:ext uri="{FF2B5EF4-FFF2-40B4-BE49-F238E27FC236}">
                    <a16:creationId xmlns:a16="http://schemas.microsoft.com/office/drawing/2014/main" id="{185EF0DB-BE87-4CDD-823B-E665113797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0" name="Freeform 61">
                <a:extLst>
                  <a:ext uri="{FF2B5EF4-FFF2-40B4-BE49-F238E27FC236}">
                    <a16:creationId xmlns:a16="http://schemas.microsoft.com/office/drawing/2014/main" id="{9AC9E234-4400-46EB-92D7-9B53A68B91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1" name="Freeform 78">
                <a:extLst>
                  <a:ext uri="{FF2B5EF4-FFF2-40B4-BE49-F238E27FC236}">
                    <a16:creationId xmlns:a16="http://schemas.microsoft.com/office/drawing/2014/main" id="{A0C06F74-3085-4BB3-9758-D974159759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2" name="Freeform 84">
                <a:extLst>
                  <a:ext uri="{FF2B5EF4-FFF2-40B4-BE49-F238E27FC236}">
                    <a16:creationId xmlns:a16="http://schemas.microsoft.com/office/drawing/2014/main" id="{9EA54D9F-32B0-4B48-B93A-B5A9E3DC6B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3" name="Freeform 87">
                <a:extLst>
                  <a:ext uri="{FF2B5EF4-FFF2-40B4-BE49-F238E27FC236}">
                    <a16:creationId xmlns:a16="http://schemas.microsoft.com/office/drawing/2014/main" id="{3858A715-B583-4779-A1D2-86822F2CB8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4" name="Freeform 60">
                <a:extLst>
                  <a:ext uri="{FF2B5EF4-FFF2-40B4-BE49-F238E27FC236}">
                    <a16:creationId xmlns:a16="http://schemas.microsoft.com/office/drawing/2014/main" id="{ECAE61B9-0396-4F89-85E9-EB174D639A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5" name="Freeform 59">
                <a:extLst>
                  <a:ext uri="{FF2B5EF4-FFF2-40B4-BE49-F238E27FC236}">
                    <a16:creationId xmlns:a16="http://schemas.microsoft.com/office/drawing/2014/main" id="{46E4F030-726A-40ED-810F-C9F2379183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6" name="Freeform 62">
                <a:extLst>
                  <a:ext uri="{FF2B5EF4-FFF2-40B4-BE49-F238E27FC236}">
                    <a16:creationId xmlns:a16="http://schemas.microsoft.com/office/drawing/2014/main" id="{B3148C64-AE70-4F9D-B6CE-5C92B9922B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7" name="Freeform 65">
                <a:extLst>
                  <a:ext uri="{FF2B5EF4-FFF2-40B4-BE49-F238E27FC236}">
                    <a16:creationId xmlns:a16="http://schemas.microsoft.com/office/drawing/2014/main" id="{78C97992-BC56-40D7-A639-3D314871C8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8" name="Freeform 79">
                <a:extLst>
                  <a:ext uri="{FF2B5EF4-FFF2-40B4-BE49-F238E27FC236}">
                    <a16:creationId xmlns:a16="http://schemas.microsoft.com/office/drawing/2014/main" id="{469CAD99-0EFE-4B8E-922B-0C2BCFFD5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79" name="Freeform 82">
                <a:extLst>
                  <a:ext uri="{FF2B5EF4-FFF2-40B4-BE49-F238E27FC236}">
                    <a16:creationId xmlns:a16="http://schemas.microsoft.com/office/drawing/2014/main" id="{1D00B441-E5A3-4411-9B05-8E09BFF62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0" name="Freeform 85">
                <a:extLst>
                  <a:ext uri="{FF2B5EF4-FFF2-40B4-BE49-F238E27FC236}">
                    <a16:creationId xmlns:a16="http://schemas.microsoft.com/office/drawing/2014/main" id="{3FFE4E0B-A703-4655-B55F-44B3A3902F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81" name="Freeform 88">
                <a:extLst>
                  <a:ext uri="{FF2B5EF4-FFF2-40B4-BE49-F238E27FC236}">
                    <a16:creationId xmlns:a16="http://schemas.microsoft.com/office/drawing/2014/main" id="{F19632C2-B953-4CD1-9EAA-5C1FEA3EFD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grpSp>
            <p:nvGrpSpPr>
              <p:cNvPr id="82" name="群組 81">
                <a:extLst>
                  <a:ext uri="{FF2B5EF4-FFF2-40B4-BE49-F238E27FC236}">
                    <a16:creationId xmlns:a16="http://schemas.microsoft.com/office/drawing/2014/main" id="{DBDC3951-9E4C-4062-9B43-3038D9058A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83" name="Line 63">
                  <a:extLst>
                    <a:ext uri="{FF2B5EF4-FFF2-40B4-BE49-F238E27FC236}">
                      <a16:creationId xmlns:a16="http://schemas.microsoft.com/office/drawing/2014/main" id="{2764EF0E-A104-46C9-B242-778009E49E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4" name="Line 66">
                  <a:extLst>
                    <a:ext uri="{FF2B5EF4-FFF2-40B4-BE49-F238E27FC236}">
                      <a16:creationId xmlns:a16="http://schemas.microsoft.com/office/drawing/2014/main" id="{D0A8B652-41E0-456C-9C9F-1F0EC00891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5" name="Line 67">
                  <a:extLst>
                    <a:ext uri="{FF2B5EF4-FFF2-40B4-BE49-F238E27FC236}">
                      <a16:creationId xmlns:a16="http://schemas.microsoft.com/office/drawing/2014/main" id="{802E547A-C876-460C-B6A4-BCE8D39DA0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6" name="Line 80">
                  <a:extLst>
                    <a:ext uri="{FF2B5EF4-FFF2-40B4-BE49-F238E27FC236}">
                      <a16:creationId xmlns:a16="http://schemas.microsoft.com/office/drawing/2014/main" id="{00363E6C-7B8D-4E1D-A93E-E73306E130D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7" name="Line 83">
                  <a:extLst>
                    <a:ext uri="{FF2B5EF4-FFF2-40B4-BE49-F238E27FC236}">
                      <a16:creationId xmlns:a16="http://schemas.microsoft.com/office/drawing/2014/main" id="{206E174F-B8D0-4FFD-A1B5-56BFC5CCE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8" name="Line 86">
                  <a:extLst>
                    <a:ext uri="{FF2B5EF4-FFF2-40B4-BE49-F238E27FC236}">
                      <a16:creationId xmlns:a16="http://schemas.microsoft.com/office/drawing/2014/main" id="{3A10191E-76B5-4841-B32D-0DF6EAB639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89" name="Line 89">
                  <a:extLst>
                    <a:ext uri="{FF2B5EF4-FFF2-40B4-BE49-F238E27FC236}">
                      <a16:creationId xmlns:a16="http://schemas.microsoft.com/office/drawing/2014/main" id="{CF67EF0B-5FE7-4D99-8B38-95B1706F07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0B39CF0F-2997-4D96-8F17-211C97D87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0" name="群組 59">
                <a:extLst>
                  <a:ext uri="{FF2B5EF4-FFF2-40B4-BE49-F238E27FC236}">
                    <a16:creationId xmlns:a16="http://schemas.microsoft.com/office/drawing/2014/main" id="{6408937D-7FFE-4D6C-AF79-1F60035CC7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4" name="直線接點​​(S) 63">
                  <a:extLst>
                    <a:ext uri="{FF2B5EF4-FFF2-40B4-BE49-F238E27FC236}">
                      <a16:creationId xmlns:a16="http://schemas.microsoft.com/office/drawing/2014/main" id="{749AA60A-BD5D-4647-AE8A-DF411C654B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線接點​​(S) 64">
                  <a:extLst>
                    <a:ext uri="{FF2B5EF4-FFF2-40B4-BE49-F238E27FC236}">
                      <a16:creationId xmlns:a16="http://schemas.microsoft.com/office/drawing/2014/main" id="{3F335D2B-768D-4700-A35C-F54A7BD3525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Rectangle 30">
                  <a:extLst>
                    <a:ext uri="{FF2B5EF4-FFF2-40B4-BE49-F238E27FC236}">
                      <a16:creationId xmlns:a16="http://schemas.microsoft.com/office/drawing/2014/main" id="{B6F1EDEE-EDB1-4759-9339-8F60B631A3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67" name="Rectangle 30">
                  <a:extLst>
                    <a:ext uri="{FF2B5EF4-FFF2-40B4-BE49-F238E27FC236}">
                      <a16:creationId xmlns:a16="http://schemas.microsoft.com/office/drawing/2014/main" id="{305D4D3B-BD5E-44BE-BE6A-4C91845930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61" name="群組 60">
                <a:extLst>
                  <a:ext uri="{FF2B5EF4-FFF2-40B4-BE49-F238E27FC236}">
                    <a16:creationId xmlns:a16="http://schemas.microsoft.com/office/drawing/2014/main" id="{30748E9E-1F8D-4FB9-89D6-F5B35B5049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56CFFBA-D942-451F-B4E0-133DEA264B0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1B25F38B-03B2-435D-82ED-142D2AB4D19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solidFill>
                      <a:schemeClr val="tx1"/>
                    </a:solidFill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E1A0A593-F414-4B02-A355-AC7A50A7E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2" name="群組 51">
                <a:extLst>
                  <a:ext uri="{FF2B5EF4-FFF2-40B4-BE49-F238E27FC236}">
                    <a16:creationId xmlns:a16="http://schemas.microsoft.com/office/drawing/2014/main" id="{1BA06E81-194E-43F2-B418-BF8101EAAE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57" name="Freeform 68">
                  <a:extLst>
                    <a:ext uri="{FF2B5EF4-FFF2-40B4-BE49-F238E27FC236}">
                      <a16:creationId xmlns:a16="http://schemas.microsoft.com/office/drawing/2014/main" id="{ABE6BF78-8FF2-4595-9072-48ACEBE207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58" name="Freeform 69">
                  <a:extLst>
                    <a:ext uri="{FF2B5EF4-FFF2-40B4-BE49-F238E27FC236}">
                      <a16:creationId xmlns:a16="http://schemas.microsoft.com/office/drawing/2014/main" id="{E182745B-1C12-49AC-97AD-501D806E9F6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59" name="Line 70">
                  <a:extLst>
                    <a:ext uri="{FF2B5EF4-FFF2-40B4-BE49-F238E27FC236}">
                      <a16:creationId xmlns:a16="http://schemas.microsoft.com/office/drawing/2014/main" id="{56B38515-A1C4-46D9-AEC6-E55E1CB733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C9A4424F-2DA0-4E5A-9291-0A5FCE5575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8609BA22-8E70-41AA-BACA-C9F8A789B2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C2F49FC5-EFC3-4A02-9782-EC06564A94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56" name="Line 70">
                  <a:extLst>
                    <a:ext uri="{FF2B5EF4-FFF2-40B4-BE49-F238E27FC236}">
                      <a16:creationId xmlns:a16="http://schemas.microsoft.com/office/drawing/2014/main" id="{782187F0-090B-4C65-B604-5DD33B4FF2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</p:grpSp>
      <p:cxnSp>
        <p:nvCxnSpPr>
          <p:cNvPr id="91" name="直線接點​​(S)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43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節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solidFill>
                <a:schemeClr val="bg1">
                  <a:alpha val="20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563402"/>
            <a:ext cx="4075200" cy="2058573"/>
          </a:xfrm>
        </p:spPr>
        <p:txBody>
          <a:bodyPr rtlCol="0">
            <a:noAutofit/>
          </a:bodyPr>
          <a:lstStyle>
            <a:lvl1pPr algn="ctr"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20" name="副標題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000" y="4248000"/>
            <a:ext cx="4075200" cy="1520975"/>
          </a:xfrm>
        </p:spPr>
        <p:txBody>
          <a:bodyPr rtlCol="0">
            <a:normAutofit/>
          </a:bodyPr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副標題</a:t>
            </a:r>
          </a:p>
        </p:txBody>
      </p:sp>
      <p:sp>
        <p:nvSpPr>
          <p:cNvPr id="24" name="圖片版面配置區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4800" y="563563"/>
            <a:ext cx="4995863" cy="2706687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6" name="圖片版面配置區 25">
            <a:extLst>
              <a:ext uri="{FF2B5EF4-FFF2-40B4-BE49-F238E27FC236}">
                <a16:creationId xmlns:a16="http://schemas.microsoft.com/office/drawing/2014/main" id="{92FA415D-7F98-4C81-A18F-A114BF021C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4800" y="3587750"/>
            <a:ext cx="4995863" cy="26987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19525" y="2840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群組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3872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F2BD96E-3838-45D2-9031-D3AF67C920A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37205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時間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595"/>
            <a:ext cx="10515600" cy="4154488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F2BD96E-3838-45D2-9031-D3AF67C920A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63725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4726" y="4217899"/>
            <a:ext cx="4079874" cy="1132373"/>
          </a:xfrm>
        </p:spPr>
        <p:txBody>
          <a:bodyPr rtlCol="0" anchor="t">
            <a:noAutofit/>
          </a:bodyPr>
          <a:lstStyle>
            <a:lvl1pPr algn="ctr"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24726" y="1541995"/>
            <a:ext cx="4079874" cy="2457819"/>
          </a:xfrm>
        </p:spPr>
        <p:txBody>
          <a:bodyPr rtlCol="0" anchor="b">
            <a:normAutofit/>
          </a:bodyPr>
          <a:lstStyle>
            <a:lvl1pPr marL="0" indent="0" algn="ctr">
              <a:lnSpc>
                <a:spcPct val="125000"/>
              </a:lnSpc>
              <a:buNone/>
              <a:defRPr sz="3200" i="0" spc="5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3" name="圖片版面配置區 42">
            <a:extLst>
              <a:ext uri="{FF2B5EF4-FFF2-40B4-BE49-F238E27FC236}">
                <a16:creationId xmlns:a16="http://schemas.microsoft.com/office/drawing/2014/main" id="{E0B6C055-B48A-412B-88B0-737289AC0B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750" y="536575"/>
            <a:ext cx="2366963" cy="27606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4" name="圖片版面配置區 42">
            <a:extLst>
              <a:ext uri="{FF2B5EF4-FFF2-40B4-BE49-F238E27FC236}">
                <a16:creationId xmlns:a16="http://schemas.microsoft.com/office/drawing/2014/main" id="{AE13F241-D0A7-491D-81D3-CB64502914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4887" y="543842"/>
            <a:ext cx="2366963" cy="27606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6" name="圖片版面配置區 42">
            <a:extLst>
              <a:ext uri="{FF2B5EF4-FFF2-40B4-BE49-F238E27FC236}">
                <a16:creationId xmlns:a16="http://schemas.microsoft.com/office/drawing/2014/main" id="{DC189B8E-5A5B-400F-8F5F-63F61759E0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642" y="3563566"/>
            <a:ext cx="2366963" cy="27606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7" name="圖片版面配置區 42">
            <a:extLst>
              <a:ext uri="{FF2B5EF4-FFF2-40B4-BE49-F238E27FC236}">
                <a16:creationId xmlns:a16="http://schemas.microsoft.com/office/drawing/2014/main" id="{07055732-D9B3-42AF-9ADA-0D1F8DC2D5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74779" y="3570833"/>
            <a:ext cx="2366963" cy="276066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8" name="日期版面配置區 47">
            <a:extLst>
              <a:ext uri="{FF2B5EF4-FFF2-40B4-BE49-F238E27FC236}">
                <a16:creationId xmlns:a16="http://schemas.microsoft.com/office/drawing/2014/main" id="{5B51C357-082C-45A5-80C8-69FD4B94D329}"/>
              </a:ext>
            </a:extLst>
          </p:cNvPr>
          <p:cNvSpPr txBox="1">
            <a:spLocks/>
          </p:cNvSpPr>
          <p:nvPr userDrawn="1"/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cap="all" spc="200" baseline="0">
                <a:solidFill>
                  <a:schemeClr val="tx1">
                    <a:alpha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altLang="zh-TW" noProof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20XX </a:t>
            </a:r>
            <a:r>
              <a: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年</a:t>
            </a:r>
          </a:p>
        </p:txBody>
      </p:sp>
      <p:cxnSp>
        <p:nvCxnSpPr>
          <p:cNvPr id="18" name="直線接點​​(S) 17">
            <a:extLst>
              <a:ext uri="{FF2B5EF4-FFF2-40B4-BE49-F238E27FC236}">
                <a16:creationId xmlns:a16="http://schemas.microsoft.com/office/drawing/2014/main" id="{D7ED9792-4CB9-419E-9961-050A9E00E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540000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E1EC9E08-1228-4409-88CC-9D1927E8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8100000" flipH="1">
            <a:off x="6674373" y="402322"/>
            <a:ext cx="641184" cy="1069728"/>
            <a:chOff x="6484111" y="2967038"/>
            <a:chExt cx="641184" cy="1069728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0A892AB7-AE89-4F73-AE0D-3503473E251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25" name="手繪多邊形​​(F) 68">
                <a:extLst>
                  <a:ext uri="{FF2B5EF4-FFF2-40B4-BE49-F238E27FC236}">
                    <a16:creationId xmlns:a16="http://schemas.microsoft.com/office/drawing/2014/main" id="{734AFAA3-AA68-425A-834B-00F9D3690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6" name="手繪多邊形​​(F) 69">
                <a:extLst>
                  <a:ext uri="{FF2B5EF4-FFF2-40B4-BE49-F238E27FC236}">
                    <a16:creationId xmlns:a16="http://schemas.microsoft.com/office/drawing/2014/main" id="{36ED0F24-8619-4AED-A07A-D075DF2AF2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7" name="線條 70">
                <a:extLst>
                  <a:ext uri="{FF2B5EF4-FFF2-40B4-BE49-F238E27FC236}">
                    <a16:creationId xmlns:a16="http://schemas.microsoft.com/office/drawing/2014/main" id="{21E04150-0D06-4DFB-A73B-66DED0A5C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EA3C053E-6843-4D44-A64D-A37FD38410B0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22" name="手繪多邊形​​(F) 68">
                <a:extLst>
                  <a:ext uri="{FF2B5EF4-FFF2-40B4-BE49-F238E27FC236}">
                    <a16:creationId xmlns:a16="http://schemas.microsoft.com/office/drawing/2014/main" id="{A84DD506-3B91-4CE4-AE62-8E2FCA17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3" name="手繪多邊形​​(F) 69">
                <a:extLst>
                  <a:ext uri="{FF2B5EF4-FFF2-40B4-BE49-F238E27FC236}">
                    <a16:creationId xmlns:a16="http://schemas.microsoft.com/office/drawing/2014/main" id="{18C6659C-7CBF-419E-B2AB-53A6FBB4F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24" name="線條 70">
                <a:extLst>
                  <a:ext uri="{FF2B5EF4-FFF2-40B4-BE49-F238E27FC236}">
                    <a16:creationId xmlns:a16="http://schemas.microsoft.com/office/drawing/2014/main" id="{C7B1B371-3EFF-4F0E-8B44-1A397B69DD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</p:grpSp>
      <p:sp>
        <p:nvSpPr>
          <p:cNvPr id="29" name="頁尾版面配置區 48">
            <a:extLst>
              <a:ext uri="{FF2B5EF4-FFF2-40B4-BE49-F238E27FC236}">
                <a16:creationId xmlns:a16="http://schemas.microsoft.com/office/drawing/2014/main" id="{B217CCF8-D1B0-4B96-AF9D-78BFAEE6D77D}"/>
              </a:ext>
            </a:extLst>
          </p:cNvPr>
          <p:cNvSpPr txBox="1">
            <a:spLocks/>
          </p:cNvSpPr>
          <p:nvPr userDrawn="1"/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 cap="all" spc="300" baseline="0">
                <a:solidFill>
                  <a:schemeClr val="tx1">
                    <a:alpha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範例頁尾文字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615108B9-F897-467F-809F-6A4A2AE7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900000" flipH="1">
            <a:off x="11020475" y="5368081"/>
            <a:ext cx="641184" cy="1069728"/>
            <a:chOff x="6484111" y="2967038"/>
            <a:chExt cx="641184" cy="1069728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86413051-FD79-4060-A702-60F38BF4A35C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36" name="Freeform 68">
                <a:extLst>
                  <a:ext uri="{FF2B5EF4-FFF2-40B4-BE49-F238E27FC236}">
                    <a16:creationId xmlns:a16="http://schemas.microsoft.com/office/drawing/2014/main" id="{B764F2D9-1B19-42EA-9AF0-6050DDABA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7" name="Freeform 69">
                <a:extLst>
                  <a:ext uri="{FF2B5EF4-FFF2-40B4-BE49-F238E27FC236}">
                    <a16:creationId xmlns:a16="http://schemas.microsoft.com/office/drawing/2014/main" id="{557F4B3F-3926-4C1D-ABBF-B2380987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8" name="Line 70">
                <a:extLst>
                  <a:ext uri="{FF2B5EF4-FFF2-40B4-BE49-F238E27FC236}">
                    <a16:creationId xmlns:a16="http://schemas.microsoft.com/office/drawing/2014/main" id="{81E74331-4EEB-49F8-912F-1DF74636E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E88BEEF7-57D3-43D4-9EBA-6948ED40B433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33" name="Freeform 68">
                <a:extLst>
                  <a:ext uri="{FF2B5EF4-FFF2-40B4-BE49-F238E27FC236}">
                    <a16:creationId xmlns:a16="http://schemas.microsoft.com/office/drawing/2014/main" id="{0CD7B047-B489-4D5B-9C32-1BA667136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4" name="Freeform 69">
                <a:extLst>
                  <a:ext uri="{FF2B5EF4-FFF2-40B4-BE49-F238E27FC236}">
                    <a16:creationId xmlns:a16="http://schemas.microsoft.com/office/drawing/2014/main" id="{2B703141-C1B3-4AFF-991F-D77B298AE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35" name="Line 70">
                <a:extLst>
                  <a:ext uri="{FF2B5EF4-FFF2-40B4-BE49-F238E27FC236}">
                    <a16:creationId xmlns:a16="http://schemas.microsoft.com/office/drawing/2014/main" id="{FEEBB32D-FA5C-432C-B55F-1F74A4D13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</p:grpSp>
      </p:grpSp>
      <p:sp>
        <p:nvSpPr>
          <p:cNvPr id="39" name="投影片編號版面配置區 49">
            <a:extLst>
              <a:ext uri="{FF2B5EF4-FFF2-40B4-BE49-F238E27FC236}">
                <a16:creationId xmlns:a16="http://schemas.microsoft.com/office/drawing/2014/main" id="{FAE9A1BE-DDB9-4362-A4F6-BE1A07DBF6F1}"/>
              </a:ext>
            </a:extLst>
          </p:cNvPr>
          <p:cNvSpPr txBox="1">
            <a:spLocks/>
          </p:cNvSpPr>
          <p:nvPr userDrawn="1"/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spc="200" baseline="0">
                <a:solidFill>
                  <a:schemeClr val="tx1">
                    <a:alpha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D39607A7-8386-47DB-8578-DDEDD194E5D4}" type="slidenum">
              <a:rPr lang="en-US" altLang="zh-TW" noProof="0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376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4" name="圖片版面配置區 13">
            <a:extLst>
              <a:ext uri="{FF2B5EF4-FFF2-40B4-BE49-F238E27FC236}">
                <a16:creationId xmlns:a16="http://schemas.microsoft.com/office/drawing/2014/main" id="{BC50FC60-9736-40BD-8EF0-51BD047716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66813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5" name="圖片版面配置區 13">
            <a:extLst>
              <a:ext uri="{FF2B5EF4-FFF2-40B4-BE49-F238E27FC236}">
                <a16:creationId xmlns:a16="http://schemas.microsoft.com/office/drawing/2014/main" id="{7D564077-E600-44C8-B691-00C1C3ECC1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8885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6" name="圖片版面配置區 13">
            <a:extLst>
              <a:ext uri="{FF2B5EF4-FFF2-40B4-BE49-F238E27FC236}">
                <a16:creationId xmlns:a16="http://schemas.microsoft.com/office/drawing/2014/main" id="{5EF6670B-24A6-4EC1-AB19-83414A6BF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02249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7" name="圖片版面配置區 13">
            <a:extLst>
              <a:ext uri="{FF2B5EF4-FFF2-40B4-BE49-F238E27FC236}">
                <a16:creationId xmlns:a16="http://schemas.microsoft.com/office/drawing/2014/main" id="{DCE770BA-A562-4780-AEC9-94BC0C7C53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4764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8" name="圖片版面配置區 13">
            <a:extLst>
              <a:ext uri="{FF2B5EF4-FFF2-40B4-BE49-F238E27FC236}">
                <a16:creationId xmlns:a16="http://schemas.microsoft.com/office/drawing/2014/main" id="{C627DB31-AE80-40F1-A5C7-E1FBE1521B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7688" y="2479675"/>
            <a:ext cx="1587500" cy="233045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CDA79604-04BA-44C3-8188-694F8E9C2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19115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版面配置區 27">
            <a:extLst>
              <a:ext uri="{FF2B5EF4-FFF2-40B4-BE49-F238E27FC236}">
                <a16:creationId xmlns:a16="http://schemas.microsoft.com/office/drawing/2014/main" id="{325542BB-A1DE-421A-898F-007CCBCC10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6813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0" name="文字版面配置區 27">
            <a:extLst>
              <a:ext uri="{FF2B5EF4-FFF2-40B4-BE49-F238E27FC236}">
                <a16:creationId xmlns:a16="http://schemas.microsoft.com/office/drawing/2014/main" id="{95E87339-255E-4557-9768-A292ED25DB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66813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1" name="文字版面配置區 27">
            <a:extLst>
              <a:ext uri="{FF2B5EF4-FFF2-40B4-BE49-F238E27FC236}">
                <a16:creationId xmlns:a16="http://schemas.microsoft.com/office/drawing/2014/main" id="{969EC781-370F-41FC-AD76-0728B465E5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28885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2" name="文字版面配置區 27">
            <a:extLst>
              <a:ext uri="{FF2B5EF4-FFF2-40B4-BE49-F238E27FC236}">
                <a16:creationId xmlns:a16="http://schemas.microsoft.com/office/drawing/2014/main" id="{50C960BB-D9A3-417D-87D9-E93363FB585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28885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3" name="文字版面配置區 27">
            <a:extLst>
              <a:ext uri="{FF2B5EF4-FFF2-40B4-BE49-F238E27FC236}">
                <a16:creationId xmlns:a16="http://schemas.microsoft.com/office/drawing/2014/main" id="{714B566C-453D-4E47-8BE0-2EF7145AD3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02249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4" name="文字版面配置區 27">
            <a:extLst>
              <a:ext uri="{FF2B5EF4-FFF2-40B4-BE49-F238E27FC236}">
                <a16:creationId xmlns:a16="http://schemas.microsoft.com/office/drawing/2014/main" id="{8C9D423F-AE1B-476A-AC7E-F34CE6ABFA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02249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5" name="文字版面配置區 27">
            <a:extLst>
              <a:ext uri="{FF2B5EF4-FFF2-40B4-BE49-F238E27FC236}">
                <a16:creationId xmlns:a16="http://schemas.microsoft.com/office/drawing/2014/main" id="{F25DCDC4-ECAE-47AB-8ED3-07D8D33BF1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64765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6" name="文字版面配置區 27">
            <a:extLst>
              <a:ext uri="{FF2B5EF4-FFF2-40B4-BE49-F238E27FC236}">
                <a16:creationId xmlns:a16="http://schemas.microsoft.com/office/drawing/2014/main" id="{1A7D8398-681A-475F-9624-02EFB0099D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64765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7" name="文字版面配置區 27">
            <a:extLst>
              <a:ext uri="{FF2B5EF4-FFF2-40B4-BE49-F238E27FC236}">
                <a16:creationId xmlns:a16="http://schemas.microsoft.com/office/drawing/2014/main" id="{9692C358-06E1-468E-90F8-9F5F3918233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37688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8" name="文字版面配置區 27">
            <a:extLst>
              <a:ext uri="{FF2B5EF4-FFF2-40B4-BE49-F238E27FC236}">
                <a16:creationId xmlns:a16="http://schemas.microsoft.com/office/drawing/2014/main" id="{2167CC03-B865-47EB-83C3-CA5CDC584C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37688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885303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054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18549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 3 欄位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2971400" cy="661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2971400" cy="3632750"/>
          </a:xfrm>
        </p:spPr>
        <p:txBody>
          <a:bodyPr rtlCol="0">
            <a:noAutofit/>
          </a:bodyPr>
          <a:lstStyle>
            <a:lvl1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10300" y="1756025"/>
            <a:ext cx="2971400" cy="662400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10300" y="2450550"/>
            <a:ext cx="2971400" cy="3632750"/>
          </a:xfrm>
        </p:spPr>
        <p:txBody>
          <a:bodyPr rtlCol="0">
            <a:noAutofit/>
          </a:bodyPr>
          <a:lstStyle>
            <a:lvl1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0" name="文字版面配置區 4">
            <a:extLst>
              <a:ext uri="{FF2B5EF4-FFF2-40B4-BE49-F238E27FC236}">
                <a16:creationId xmlns:a16="http://schemas.microsoft.com/office/drawing/2014/main" id="{65563541-7DAA-4F84-BBAB-31C12F6AE9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31200" y="1756025"/>
            <a:ext cx="2971400" cy="662400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1" name="內容版面配置區 5">
            <a:extLst>
              <a:ext uri="{FF2B5EF4-FFF2-40B4-BE49-F238E27FC236}">
                <a16:creationId xmlns:a16="http://schemas.microsoft.com/office/drawing/2014/main" id="{AE3321C3-E759-4DD7-BFA1-2E724B8DDB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31200" y="2450550"/>
            <a:ext cx="2971400" cy="3632750"/>
          </a:xfrm>
        </p:spPr>
        <p:txBody>
          <a:bodyPr rtlCol="0">
            <a:noAutofit/>
          </a:bodyPr>
          <a:lstStyle>
            <a:lvl1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936496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摘要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solidFill>
                <a:schemeClr val="bg1">
                  <a:alpha val="20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1" y="536573"/>
            <a:ext cx="7424950" cy="1453003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1" name="圖片版面配置區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063" y="536575"/>
            <a:ext cx="2616200" cy="17430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07" name="圖片版面配置區 10">
            <a:extLst>
              <a:ext uri="{FF2B5EF4-FFF2-40B4-BE49-F238E27FC236}">
                <a16:creationId xmlns:a16="http://schemas.microsoft.com/office/drawing/2014/main" id="{524BD50E-995A-4DB3-8E0A-E7F1FC6369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853" y="2557090"/>
            <a:ext cx="2616200" cy="17430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08" name="圖片版面配置區 10">
            <a:extLst>
              <a:ext uri="{FF2B5EF4-FFF2-40B4-BE49-F238E27FC236}">
                <a16:creationId xmlns:a16="http://schemas.microsoft.com/office/drawing/2014/main" id="{ABAB6489-3F37-4A20-8777-093046E5C8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063" y="4576347"/>
            <a:ext cx="2616200" cy="174307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92523157-52E2-4F89-B3C9-EA9FE7914B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4100" y="2876550"/>
            <a:ext cx="6332538" cy="3219450"/>
          </a:xfrm>
        </p:spPr>
        <p:txBody>
          <a:bodyPr rtlCol="0">
            <a:normAutofit/>
          </a:bodyPr>
          <a:lstStyle>
            <a:lvl1pPr marL="0" indent="0" algn="ctr">
              <a:buNone/>
              <a:defRPr sz="19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  <a:lvl3pPr marL="720000" indent="0" algn="ctr">
              <a:buNone/>
              <a:defRPr/>
            </a:lvl3pPr>
            <a:lvl4pPr marL="1080000" indent="0" algn="ctr">
              <a:buFont typeface="Arial" panose="020B0604020202020204" pitchFamily="34" charset="0"/>
              <a:buNone/>
              <a:defRPr/>
            </a:lvl4pPr>
            <a:lvl5pPr marL="1440000" indent="0" algn="ctr">
              <a:buNone/>
              <a:defRPr/>
            </a:lvl5pPr>
          </a:lstStyle>
          <a:p>
            <a:pPr lvl="0" rtl="0"/>
            <a:r>
              <a:rPr lang="zh-TW" altLang="en-US" noProof="0"/>
              <a:t>按一下以編輯文字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8000" y="6357167"/>
            <a:ext cx="1760150" cy="46166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6725" y="6357600"/>
            <a:ext cx="3347285" cy="460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cxnSp>
        <p:nvCxnSpPr>
          <p:cNvPr id="91" name="直線接點​​(S)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417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167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結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707" y="536573"/>
            <a:ext cx="3856679" cy="1453003"/>
          </a:xfrm>
        </p:spPr>
        <p:txBody>
          <a:bodyPr rtlCol="0"/>
          <a:lstStyle>
            <a:lvl1pPr algn="ctr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 dirty="0"/>
              <a:t>20XX </a:t>
            </a:r>
            <a:r>
              <a:rPr lang="zh-TW" altLang="en-US" noProof="0" dirty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範例頁尾文字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cxnSp>
        <p:nvCxnSpPr>
          <p:cNvPr id="91" name="直線接點​​(S)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群組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 dirty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zh-TW" altLang="en-US" noProof="0" dirty="0">
                  <a:latin typeface="Microsoft JhengHei UI" panose="020B0604030504040204" pitchFamily="34" charset="-120"/>
                  <a:ea typeface="Microsoft JhengHei UI" panose="020B0604030504040204" pitchFamily="34" charset="-120"/>
                </a:endParaRPr>
              </a:p>
            </p:txBody>
          </p:sp>
          <p:grpSp>
            <p:nvGrpSpPr>
              <p:cNvPr id="197" name="群組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</p:grpSp>
        <p:grpSp>
          <p:nvGrpSpPr>
            <p:cNvPr id="95" name="群組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群組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grpSp>
              <p:nvGrpSpPr>
                <p:cNvPr id="187" name="群組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147" name="群組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群組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直線接點​​(S)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直線接點​​(S)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166" name="群組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148" name="群組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群組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49" name="群組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50" name="群組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群組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152" name="群組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直線接點​​(S)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</p:grpSp>
        <p:grpSp>
          <p:nvGrpSpPr>
            <p:cNvPr id="96" name="群組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群組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grpSp>
              <p:nvGrpSpPr>
                <p:cNvPr id="138" name="群組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98" name="群組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群組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直線接點​​(S)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直線接點​​(S)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117" name="群組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  <p:grpSp>
            <p:nvGrpSpPr>
              <p:cNvPr id="99" name="群組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群組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00" name="群組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zh-TW" altLang="en-US" noProof="0" dirty="0">
                    <a:latin typeface="Microsoft JhengHei UI" panose="020B0604030504040204" pitchFamily="34" charset="-120"/>
                    <a:ea typeface="Microsoft JhengHei UI" panose="020B0604030504040204" pitchFamily="34" charset="-120"/>
                  </a:endParaRPr>
                </a:p>
              </p:txBody>
            </p:sp>
          </p:grpSp>
          <p:grpSp>
            <p:nvGrpSpPr>
              <p:cNvPr id="101" name="群組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群組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zh-TW" altLang="en-US" noProof="0" dirty="0">
                      <a:solidFill>
                        <a:schemeClr val="tx1"/>
                      </a:solidFill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  <p:grpSp>
              <p:nvGrpSpPr>
                <p:cNvPr id="103" name="群組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直線接點​​(S)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zh-TW" altLang="en-US" noProof="0" dirty="0">
                      <a:latin typeface="Microsoft JhengHei UI" panose="020B0604030504040204" pitchFamily="34" charset="-120"/>
                      <a:ea typeface="Microsoft JhengHei UI" panose="020B0604030504040204" pitchFamily="34" charset="-120"/>
                    </a:endParaRPr>
                  </a:p>
                </p:txBody>
              </p:sp>
            </p:grpSp>
          </p:grpSp>
        </p:grpSp>
      </p:grp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9CF2D931-86F8-40B1-B2C0-BE477572EC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81686" y="2876550"/>
            <a:ext cx="3059113" cy="2983947"/>
          </a:xfr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60000" indent="0">
              <a:buFont typeface="Arial" panose="020B0604020202020204" pitchFamily="34" charset="0"/>
              <a:buNone/>
              <a:defRPr/>
            </a:lvl2pPr>
            <a:lvl3pPr marL="720000" indent="0">
              <a:buNone/>
              <a:defRPr/>
            </a:lvl3pPr>
            <a:lvl4pPr marL="1080000" indent="0">
              <a:buFont typeface="Arial" panose="020B0604020202020204" pitchFamily="34" charset="0"/>
              <a:buNone/>
              <a:defRPr/>
            </a:lvl4pPr>
            <a:lvl5pPr marL="1440000" indent="0">
              <a:buNone/>
              <a:defRPr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6887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範例頁尾文字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1197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3" r:id="rId3"/>
    <p:sldLayoutId id="2147483678" r:id="rId4"/>
    <p:sldLayoutId id="2147483660" r:id="rId5"/>
    <p:sldLayoutId id="2147483680" r:id="rId6"/>
    <p:sldLayoutId id="2147483679" r:id="rId7"/>
    <p:sldLayoutId id="2147483677" r:id="rId8"/>
    <p:sldLayoutId id="2147483662" r:id="rId9"/>
    <p:sldLayoutId id="2147483663" r:id="rId10"/>
    <p:sldLayoutId id="2147483671" r:id="rId11"/>
    <p:sldLayoutId id="2147483676" r:id="rId12"/>
    <p:sldLayoutId id="2147483674" r:id="rId1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  <p15:guide id="30" orient="horz" pos="2160" userDrawn="1">
          <p15:clr>
            <a:srgbClr val="A4A3A4"/>
          </p15:clr>
        </p15:guide>
        <p15:guide id="31" pos="3840" userDrawn="1">
          <p15:clr>
            <a:srgbClr val="A4A3A4"/>
          </p15:clr>
        </p15:guide>
        <p15:guide id="32" pos="240" userDrawn="1">
          <p15:clr>
            <a:srgbClr val="547EBF"/>
          </p15:clr>
        </p15:guide>
        <p15:guide id="33" orient="horz" pos="240" userDrawn="1">
          <p15:clr>
            <a:srgbClr val="547EBF"/>
          </p15:clr>
        </p15:guide>
        <p15:guide id="34" pos="7440" userDrawn="1">
          <p15:clr>
            <a:srgbClr val="547EBF"/>
          </p15:clr>
        </p15:guide>
        <p15:guide id="35" orient="horz" pos="4080" userDrawn="1">
          <p15:clr>
            <a:srgbClr val="547EBF"/>
          </p15:clr>
        </p15:guide>
        <p15:guide id="36" pos="3960" userDrawn="1">
          <p15:clr>
            <a:srgbClr val="547EBF"/>
          </p15:clr>
        </p15:guide>
        <p15:guide id="37" pos="3720" userDrawn="1">
          <p15:clr>
            <a:srgbClr val="547EBF"/>
          </p15:clr>
        </p15:guide>
        <p15:guide id="38" pos="2112" userDrawn="1">
          <p15:clr>
            <a:srgbClr val="547EBF"/>
          </p15:clr>
        </p15:guide>
        <p15:guide id="39" pos="1848" userDrawn="1">
          <p15:clr>
            <a:srgbClr val="547EBF"/>
          </p15:clr>
        </p15:guide>
        <p15:guide id="40" pos="5568" userDrawn="1">
          <p15:clr>
            <a:srgbClr val="547EBF"/>
          </p15:clr>
        </p15:guide>
        <p15:guide id="41" pos="5832" userDrawn="1">
          <p15:clr>
            <a:srgbClr val="547EBF"/>
          </p15:clr>
        </p15:guide>
        <p15:guide id="42" pos="4968" userDrawn="1">
          <p15:clr>
            <a:srgbClr val="9FCC3B"/>
          </p15:clr>
        </p15:guide>
        <p15:guide id="43" pos="5208" userDrawn="1">
          <p15:clr>
            <a:srgbClr val="9FCC3B"/>
          </p15:clr>
        </p15:guide>
        <p15:guide id="44" pos="2712" userDrawn="1">
          <p15:clr>
            <a:srgbClr val="9FCC3B"/>
          </p15:clr>
        </p15:guide>
        <p15:guide id="45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1DF3D98-3C30-4CFC-8643-C81E829C8C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28142" y="1559554"/>
                <a:ext cx="10535715" cy="1037600"/>
              </a:xfrm>
            </p:spPr>
            <p:txBody>
              <a:bodyPr rtlCol="0">
                <a:normAutofit/>
              </a:bodyPr>
              <a:lstStyle/>
              <a:p>
                <a:r>
                  <a:rPr lang="zh-TW" altLang="en-US" sz="3200" dirty="0">
                    <a:latin typeface="Aptos" panose="020B0004020202020204" pitchFamily="34" charset="0"/>
                    <a:ea typeface="微軟正黑體" panose="020B0604030504040204" pitchFamily="34" charset="-120"/>
                  </a:rPr>
                  <a:t>使用倒傳遞演算法 </a:t>
                </a:r>
                <a:r>
                  <a:rPr lang="en-US" altLang="zh-TW" sz="3200" dirty="0">
                    <a:latin typeface="Aptos" panose="020B0004020202020204" pitchFamily="34" charset="0"/>
                    <a:ea typeface="微軟正黑體" panose="020B0604030504040204" pitchFamily="34" charset="-120"/>
                  </a:rPr>
                  <a:t>(BP) </a:t>
                </a:r>
                <a:r>
                  <a:rPr lang="zh-TW" altLang="en-US" sz="3200" dirty="0">
                    <a:latin typeface="Aptos" panose="020B0004020202020204" pitchFamily="34" charset="0"/>
                    <a:ea typeface="微軟正黑體" panose="020B0604030504040204" pitchFamily="34" charset="-120"/>
                  </a:rPr>
                  <a:t>模擬</a:t>
                </a:r>
                <a14:m>
                  <m:oMath xmlns:m="http://schemas.openxmlformats.org/officeDocument/2006/math">
                    <m:r>
                      <a:rPr lang="en-US" altLang="zh-TW" sz="4000" i="1"/>
                      <m:t>𝑓</m:t>
                    </m:r>
                    <m:d>
                      <m:dPr>
                        <m:ctrlPr>
                          <a:rPr lang="zh-TW" altLang="zh-TW" sz="4000" i="1"/>
                        </m:ctrlPr>
                      </m:dPr>
                      <m:e>
                        <m:sSub>
                          <m:sSubPr>
                            <m:ctrlPr>
                              <a:rPr lang="zh-TW" altLang="zh-TW" sz="4000" i="1"/>
                            </m:ctrlPr>
                          </m:sSubPr>
                          <m:e>
                            <m:r>
                              <a:rPr lang="en-US" altLang="zh-TW" sz="4000" i="1"/>
                              <m:t>𝑥</m:t>
                            </m:r>
                          </m:e>
                          <m:sub>
                            <m:r>
                              <a:rPr lang="en-US" altLang="zh-TW" sz="4000" i="1"/>
                              <m:t>1</m:t>
                            </m:r>
                          </m:sub>
                        </m:sSub>
                        <m:r>
                          <a:rPr lang="en-US" altLang="zh-TW" sz="4000" i="1"/>
                          <m:t>,</m:t>
                        </m:r>
                        <m:sSub>
                          <m:sSubPr>
                            <m:ctrlPr>
                              <a:rPr lang="zh-TW" altLang="zh-TW" sz="4000" i="1"/>
                            </m:ctrlPr>
                          </m:sSubPr>
                          <m:e>
                            <m:r>
                              <a:rPr lang="en-US" altLang="zh-TW" sz="4000" i="1"/>
                              <m:t>𝑥</m:t>
                            </m:r>
                          </m:e>
                          <m:sub>
                            <m:r>
                              <a:rPr lang="en-US" altLang="zh-TW" sz="4000" i="1"/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4000" i="1"/>
                      <m:t>=</m:t>
                    </m:r>
                    <m:sSubSup>
                      <m:sSubSupPr>
                        <m:ctrlPr>
                          <a:rPr lang="zh-TW" altLang="zh-TW" sz="4000" i="1"/>
                        </m:ctrlPr>
                      </m:sSubSupPr>
                      <m:e>
                        <m:r>
                          <a:rPr lang="en-US" altLang="zh-TW" sz="4000" i="1"/>
                          <m:t>𝑥</m:t>
                        </m:r>
                      </m:e>
                      <m:sub>
                        <m:r>
                          <a:rPr lang="en-US" altLang="zh-TW" sz="4000" i="1"/>
                          <m:t>1</m:t>
                        </m:r>
                      </m:sub>
                      <m:sup>
                        <m:r>
                          <a:rPr lang="en-US" altLang="zh-TW" sz="4000" i="1"/>
                          <m:t>2</m:t>
                        </m:r>
                      </m:sup>
                    </m:sSubSup>
                    <m:r>
                      <a:rPr lang="en-US" altLang="zh-TW" sz="4000" i="1"/>
                      <m:t>+</m:t>
                    </m:r>
                    <m:sSubSup>
                      <m:sSubSupPr>
                        <m:ctrlPr>
                          <a:rPr lang="zh-TW" altLang="zh-TW" sz="4000" i="1"/>
                        </m:ctrlPr>
                      </m:sSubSupPr>
                      <m:e>
                        <m:r>
                          <a:rPr lang="en-US" altLang="zh-TW" sz="4000" i="1"/>
                          <m:t>𝑥</m:t>
                        </m:r>
                      </m:e>
                      <m:sub>
                        <m:r>
                          <a:rPr lang="en-US" altLang="zh-TW" sz="4000" i="1"/>
                          <m:t>2</m:t>
                        </m:r>
                      </m:sub>
                      <m:sup>
                        <m:r>
                          <a:rPr lang="en-US" altLang="zh-TW" sz="4000" i="1"/>
                          <m:t>2</m:t>
                        </m:r>
                      </m:sup>
                    </m:sSubSup>
                  </m:oMath>
                </a14:m>
                <a:endParaRPr lang="zh-TW" altLang="en-US" sz="3200" dirty="0">
                  <a:latin typeface="Aptos" panose="020B0004020202020204" pitchFamily="34" charset="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51DF3D98-3C30-4CFC-8643-C81E829C8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28142" y="1559554"/>
                <a:ext cx="10535715" cy="1037600"/>
              </a:xfr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副標題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465" y="3974851"/>
            <a:ext cx="2426968" cy="1655762"/>
          </a:xfrm>
        </p:spPr>
        <p:txBody>
          <a:bodyPr rtlCol="0">
            <a:normAutofit/>
          </a:bodyPr>
          <a:lstStyle/>
          <a:p>
            <a:pPr algn="l" rtl="0"/>
            <a:r>
              <a:rPr lang="zh-TW" altLang="en-US" dirty="0">
                <a:cs typeface="Calibri"/>
              </a:rPr>
              <a:t>學號</a:t>
            </a:r>
            <a:r>
              <a:rPr lang="en-US" altLang="zh-TW" dirty="0">
                <a:cs typeface="Calibri"/>
              </a:rPr>
              <a:t>:11467013</a:t>
            </a:r>
          </a:p>
          <a:p>
            <a:pPr algn="l" rtl="0"/>
            <a:r>
              <a:rPr lang="zh-TW" altLang="en-US" dirty="0">
                <a:cs typeface="Calibri"/>
              </a:rPr>
              <a:t>姓名</a:t>
            </a:r>
            <a:r>
              <a:rPr lang="en-US" altLang="zh-TW" dirty="0">
                <a:cs typeface="Calibri"/>
              </a:rPr>
              <a:t>:</a:t>
            </a:r>
            <a:r>
              <a:rPr lang="zh-TW" altLang="en-US" dirty="0">
                <a:cs typeface="Calibri"/>
              </a:rPr>
              <a:t>桑瑋佑</a:t>
            </a:r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B7A806F2-0860-EFAD-30BD-3D16595FEFAD}"/>
              </a:ext>
            </a:extLst>
          </p:cNvPr>
          <p:cNvSpPr txBox="1">
            <a:spLocks/>
          </p:cNvSpPr>
          <p:nvPr/>
        </p:nvSpPr>
        <p:spPr>
          <a:xfrm>
            <a:off x="3981433" y="2752202"/>
            <a:ext cx="4229131" cy="51437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kern="1200" cap="none" spc="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sz="2000" dirty="0"/>
              <a:t>隱藏層單元數 </a:t>
            </a:r>
            <a:r>
              <a:rPr lang="en-US" altLang="zh-TW" sz="2000" dirty="0"/>
              <a:t>(p) </a:t>
            </a:r>
            <a:r>
              <a:rPr lang="zh-TW" altLang="en-US" sz="2000" dirty="0"/>
              <a:t>對學習成效之影響</a:t>
            </a:r>
            <a:endParaRPr lang="zh-TW" altLang="en-US" sz="2000" dirty="0">
              <a:latin typeface="Aptos" panose="020B0004020202020204" pitchFamily="34" charset="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64" y="1066484"/>
            <a:ext cx="1920512" cy="834544"/>
          </a:xfrm>
        </p:spPr>
        <p:txBody>
          <a:bodyPr wrap="square" rtlCol="0" anchor="b">
            <a:normAutofit/>
          </a:bodyPr>
          <a:lstStyle/>
          <a:p>
            <a:r>
              <a:rPr lang="en-US" altLang="zh-TW" dirty="0">
                <a:latin typeface="Aptos" panose="020B0004020202020204" pitchFamily="34" charset="0"/>
              </a:rPr>
              <a:t>Objective</a:t>
            </a:r>
            <a:endParaRPr lang="zh-TW" alt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2788C46-D0BC-4307-AE55-7601A139E7CB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>
              <a:xfrm>
                <a:off x="1424964" y="2606305"/>
                <a:ext cx="8067952" cy="2938561"/>
              </a:xfrm>
            </p:spPr>
            <p:txBody>
              <a:bodyPr rtlCol="0">
                <a:normAutofit fontScale="85000" lnSpcReduction="10000"/>
              </a:bodyPr>
              <a:lstStyle/>
              <a:p>
                <a:pPr algn="l"/>
                <a:r>
                  <a:rPr lang="en-US" altLang="zh-TW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Problem:</a:t>
                </a:r>
              </a:p>
              <a:p>
                <a:pPr marL="0" indent="0" algn="l">
                  <a:buNone/>
                </a:pPr>
                <a:r>
                  <a:rPr lang="zh-TW" altLang="en-US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建立一個類神經網路 </a:t>
                </a:r>
                <a:r>
                  <a:rPr lang="en-US" altLang="zh-TW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(Neural Network)</a:t>
                </a:r>
                <a:r>
                  <a:rPr lang="zh-TW" altLang="en-US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，來學習一個非線性的 </a:t>
                </a:r>
                <a:r>
                  <a:rPr lang="en-US" altLang="zh-TW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3D </a:t>
                </a:r>
                <a:r>
                  <a:rPr lang="zh-TW" altLang="en-US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曲面。</a:t>
                </a:r>
                <a:endParaRPr lang="en-US" altLang="zh-TW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l"/>
                <a:r>
                  <a:rPr lang="en-US" altLang="zh-TW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Purpose:</a:t>
                </a:r>
              </a:p>
              <a:p>
                <a:pPr marL="0" indent="0" algn="l">
                  <a:buNone/>
                </a:pPr>
                <a:r>
                  <a:rPr lang="zh-TW" altLang="en-US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實作一個 </a:t>
                </a:r>
                <a:r>
                  <a:rPr lang="en-US" altLang="zh-TW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BP </a:t>
                </a:r>
                <a:r>
                  <a:rPr lang="zh-TW" altLang="en-US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演算法，來模擬</a:t>
                </a:r>
                <a14:m>
                  <m:oMath xmlns:m="http://schemas.openxmlformats.org/officeDocument/2006/math">
                    <m:r>
                      <a:rPr lang="en-US" altLang="zh-TW" i="1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zh-TW" i="1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i="1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chemeClr val="tx1">
                                    <a:alpha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TW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i="1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zh-TW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i="1">
                            <a:solidFill>
                              <a:schemeClr val="tx1">
                                <a:alpha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TW" altLang="en-US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函數。</a:t>
                </a:r>
                <a:endParaRPr lang="en-US" altLang="zh-TW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buNone/>
                </a:pPr>
                <a:r>
                  <a:rPr lang="zh-TW" altLang="en-US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探討</a:t>
                </a:r>
                <a:r>
                  <a:rPr lang="zh-TW" altLang="en-US" b="1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隱藏層單元數 </a:t>
                </a:r>
                <a:r>
                  <a:rPr lang="en-US" altLang="zh-TW" b="1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(p)</a:t>
                </a:r>
                <a:r>
                  <a:rPr lang="zh-TW" altLang="en-US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(p=5, 10, 20) </a:t>
                </a:r>
                <a:r>
                  <a:rPr lang="zh-TW" altLang="en-US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對學習成效的影響。</a:t>
                </a:r>
                <a:endParaRPr lang="en-US" altLang="zh-TW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l"/>
                <a:endParaRPr lang="zh-TW" altLang="en-US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2788C46-D0BC-4307-AE55-7601A139E7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1424964" y="2606305"/>
                <a:ext cx="8067952" cy="2938561"/>
              </a:xfrm>
              <a:blipFill>
                <a:blip r:embed="rId3"/>
                <a:stretch>
                  <a:fillRect l="-5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投影片編號版面配置區 5">
            <a:extLst>
              <a:ext uri="{FF2B5EF4-FFF2-40B4-BE49-F238E27FC236}">
                <a16:creationId xmlns:a16="http://schemas.microsoft.com/office/drawing/2014/main" id="{09567CC5-9835-41E1-8AE6-687543088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>
            <a:normAutofit/>
          </a:bodyPr>
          <a:lstStyle/>
          <a:p>
            <a:pPr rtl="0"/>
            <a:fld id="{D39607A7-8386-47DB-8578-DDEDD194E5D4}" type="slidenum">
              <a:rPr lang="en-US" altLang="zh-TW" smtClean="0"/>
              <a:pPr/>
              <a:t>2</a:t>
            </a:fld>
            <a:endParaRPr lang="zh-TW" altLang="en-US"/>
          </a:p>
        </p:txBody>
      </p:sp>
      <p:pic>
        <p:nvPicPr>
          <p:cNvPr id="7" name="圖片 6" descr="一張含有 寫生, 圖表, 設計 的圖片&#10;&#10;AI 產生的內容可能不正確。">
            <a:extLst>
              <a:ext uri="{FF2B5EF4-FFF2-40B4-BE49-F238E27FC236}">
                <a16:creationId xmlns:a16="http://schemas.microsoft.com/office/drawing/2014/main" id="{257FE01A-CA91-E360-107A-476F24A28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8756" y="2484654"/>
            <a:ext cx="3103244" cy="318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627" y="1409482"/>
            <a:ext cx="5268531" cy="667403"/>
          </a:xfrm>
        </p:spPr>
        <p:txBody>
          <a:bodyPr wrap="square" rtlCol="0" anchor="b">
            <a:noAutofit/>
          </a:bodyPr>
          <a:lstStyle/>
          <a:p>
            <a:r>
              <a:rPr lang="en-US" altLang="zh-TW" dirty="0">
                <a:latin typeface="Aptos" panose="020B0004020202020204" pitchFamily="34" charset="0"/>
              </a:rPr>
              <a:t>Procedure</a:t>
            </a:r>
            <a:r>
              <a:rPr lang="zh-TW" altLang="en-US" dirty="0"/>
              <a:t> </a:t>
            </a:r>
            <a:r>
              <a:rPr lang="en-US" altLang="zh-TW" dirty="0"/>
              <a:t>- </a:t>
            </a:r>
            <a:r>
              <a:rPr lang="zh-TW" altLang="en-US" dirty="0"/>
              <a:t>網路架構與方法</a:t>
            </a:r>
            <a:endParaRPr lang="zh-TW" altLang="en-US" dirty="0">
              <a:latin typeface="Aptos" panose="020B0004020202020204" pitchFamily="34" charset="0"/>
            </a:endParaRPr>
          </a:p>
        </p:txBody>
      </p:sp>
      <p:sp>
        <p:nvSpPr>
          <p:cNvPr id="104" name="投影片編號版面配置區 49">
            <a:extLst>
              <a:ext uri="{FF2B5EF4-FFF2-40B4-BE49-F238E27FC236}">
                <a16:creationId xmlns:a16="http://schemas.microsoft.com/office/drawing/2014/main" id="{BC4462F5-98AF-457A-94DC-C44EA835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/>
          <a:lstStyle/>
          <a:p>
            <a:pPr rtl="0"/>
            <a:fld id="{D39607A7-8386-47DB-8578-DDEDD194E5D4}" type="slidenum">
              <a:rPr lang="en-US" altLang="zh-TW" smtClean="0"/>
              <a:pPr rtl="0"/>
              <a:t>3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EB4D3DE3-69CB-19AF-0F43-ADA61F4E38A3}"/>
                  </a:ext>
                </a:extLst>
              </p:cNvPr>
              <p:cNvSpPr>
                <a:spLocks noGrp="1" noChangeArrowheads="1"/>
              </p:cNvSpPr>
              <p:nvPr>
                <p:ph type="body" sz="quarter" idx="13"/>
              </p:nvPr>
            </p:nvSpPr>
            <p:spPr bwMode="auto">
              <a:xfrm>
                <a:off x="1649627" y="2490038"/>
                <a:ext cx="7518436" cy="29007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zh-TW" altLang="zh-TW" sz="1900" dirty="0">
                    <a:latin typeface="Aptos" panose="020B0004020202020204" pitchFamily="34" charset="0"/>
                  </a:rPr>
                  <a:t>演算法 (Algorithm)： 倒傳遞演算法 (Back-propagation)</a:t>
                </a:r>
              </a:p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zh-TW" altLang="zh-TW" sz="1900" dirty="0">
                    <a:latin typeface="Aptos" panose="020B0004020202020204" pitchFamily="34" charset="0"/>
                  </a:rPr>
                  <a:t>網路架構 (Network)： 2 (Input) - </a:t>
                </a:r>
                <a14:m>
                  <m:oMath xmlns:m="http://schemas.openxmlformats.org/officeDocument/2006/math">
                    <m:r>
                      <a:rPr lang="zh-TW" altLang="zh-TW" sz="1900"/>
                      <m:t>𝑝</m:t>
                    </m:r>
                  </m:oMath>
                </a14:m>
                <a:r>
                  <a:rPr lang="zh-TW" altLang="zh-TW" sz="1900" dirty="0">
                    <a:latin typeface="Aptos" panose="020B0004020202020204" pitchFamily="34" charset="0"/>
                  </a:rPr>
                  <a:t>(Hidden) - 1 (Output)</a:t>
                </a:r>
              </a:p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zh-TW" altLang="zh-TW" sz="1900" dirty="0">
                    <a:latin typeface="Aptos" panose="020B0004020202020204" pitchFamily="34" charset="0"/>
                  </a:rPr>
                  <a:t>激活函數 (Activation)： Logistic (Sigmoid) Function</a:t>
                </a:r>
              </a:p>
              <a:p>
                <a:pPr lvl="0" algn="l" fontAlgn="base">
                  <a:spcAft>
                    <a:spcPct val="0"/>
                  </a:spcAft>
                </a:pPr>
                <a:r>
                  <a:rPr lang="zh-TW" altLang="zh-TW" sz="1900" dirty="0">
                    <a:latin typeface="Aptos" panose="020B0004020202020204" pitchFamily="34" charset="0"/>
                  </a:rPr>
                  <a:t>資料縮放 (Scaling)： 由於目標</a:t>
                </a:r>
                <a14:m>
                  <m:oMath xmlns:m="http://schemas.openxmlformats.org/officeDocument/2006/math">
                    <m:r>
                      <a:rPr lang="zh-TW" altLang="zh-TW" sz="1900"/>
                      <m:t>𝑑</m:t>
                    </m:r>
                  </m:oMath>
                </a14:m>
                <a:r>
                  <a:rPr lang="zh-TW" altLang="zh-TW" sz="1900" dirty="0">
                    <a:latin typeface="Aptos" panose="020B0004020202020204" pitchFamily="34" charset="0"/>
                  </a:rPr>
                  <a:t>(0~50) 遠大於 Logistic 輸出 (0~1)，必須將</a:t>
                </a:r>
                <a14:m>
                  <m:oMath xmlns:m="http://schemas.openxmlformats.org/officeDocument/2006/math">
                    <m:r>
                      <a:rPr lang="zh-TW" altLang="zh-TW" sz="1900"/>
                      <m:t>𝑑</m:t>
                    </m:r>
                  </m:oMath>
                </a14:m>
                <a:r>
                  <a:rPr lang="zh-TW" altLang="zh-TW" sz="1900" dirty="0">
                    <a:latin typeface="Aptos" panose="020B0004020202020204" pitchFamily="34" charset="0"/>
                  </a:rPr>
                  <a:t>縮放 (Scale) 至 [0.2, 0.8] 區間才能進行訓練。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TW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EB4D3DE3-69CB-19AF-0F43-ADA61F4E3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 bwMode="auto">
              <a:xfrm>
                <a:off x="1649627" y="2490038"/>
                <a:ext cx="7518436" cy="2900794"/>
              </a:xfrm>
              <a:prstGeom prst="rect">
                <a:avLst/>
              </a:prstGeom>
              <a:blipFill>
                <a:blip r:embed="rId3"/>
                <a:stretch>
                  <a:fillRect l="-8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 descr="一張含有 文字, 行, 繪圖, 圖表 的圖片">
            <a:extLst>
              <a:ext uri="{FF2B5EF4-FFF2-40B4-BE49-F238E27FC236}">
                <a16:creationId xmlns:a16="http://schemas.microsoft.com/office/drawing/2014/main" id="{9404A011-350F-9FB2-94E6-993183B68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887" y="2076885"/>
            <a:ext cx="3050022" cy="218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DE611-AF30-15AC-4F0F-AF9E6100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F088FB-736A-C214-6D67-7AA68AB0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64" y="965812"/>
            <a:ext cx="4174957" cy="655760"/>
          </a:xfrm>
        </p:spPr>
        <p:txBody>
          <a:bodyPr wrap="square" rtlCol="0" anchor="b">
            <a:normAutofit/>
          </a:bodyPr>
          <a:lstStyle/>
          <a:p>
            <a:r>
              <a:rPr lang="en-US" altLang="zh-TW" dirty="0"/>
              <a:t>Procedure - </a:t>
            </a:r>
            <a:r>
              <a:rPr lang="zh-TW" altLang="en-US" dirty="0"/>
              <a:t>實驗參數</a:t>
            </a:r>
            <a:endParaRPr lang="zh-TW" alt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DAD0454-C516-6C7E-B6A2-D87D7923ABA6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>
              <a:xfrm>
                <a:off x="1424964" y="2171574"/>
                <a:ext cx="7887530" cy="3994610"/>
              </a:xfrm>
            </p:spPr>
            <p:txBody>
              <a:bodyPr rtlCol="0">
                <a:noAutofit/>
              </a:bodyPr>
              <a:lstStyle/>
              <a:p>
                <a:pPr algn="l"/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資料 </a:t>
                </a:r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(Data)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 </a:t>
                </a:r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300 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筆訓練資料 </a:t>
                </a:r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/ 100 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筆測試資料</a:t>
                </a:r>
                <a:endParaRPr lang="en-US" altLang="zh-TW" sz="1900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l"/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關鍵參數 </a:t>
                </a:r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(Parameters)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</a:t>
                </a:r>
                <a:endParaRPr lang="en-US" altLang="zh-TW" sz="1900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l"/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Learning Rate (</a:t>
                </a:r>
                <a14:m>
                  <m:oMath xmlns:m="http://schemas.openxmlformats.org/officeDocument/2006/math">
                    <m:r>
                      <a:rPr lang="en-US" altLang="zh-TW" sz="1900" i="1" smtClean="0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): 1.0</a:t>
                </a:r>
              </a:p>
              <a:p>
                <a:pPr algn="l"/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Momentum (</a:t>
                </a:r>
                <a14:m>
                  <m:oMath xmlns:m="http://schemas.openxmlformats.org/officeDocument/2006/math">
                    <m:r>
                      <a:rPr lang="en-US" altLang="zh-TW" sz="1900" i="1" smtClean="0">
                        <a:solidFill>
                          <a:schemeClr val="tx1">
                            <a:alpha val="6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): 0.9</a:t>
                </a:r>
              </a:p>
              <a:p>
                <a:pPr algn="l"/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Iterations: 30,000 </a:t>
                </a:r>
              </a:p>
              <a:p>
                <a:pPr algn="l"/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實驗變因 </a:t>
                </a:r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(Variable)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</a:t>
                </a:r>
                <a:endParaRPr lang="en-US" altLang="zh-TW" sz="1900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l"/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隱藏層單元數 </a:t>
                </a:r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(p) = 5, 10, 20</a:t>
                </a:r>
                <a:endParaRPr lang="zh-TW" altLang="en-US" sz="1900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DAD0454-C516-6C7E-B6A2-D87D7923A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1424964" y="2171574"/>
                <a:ext cx="7887530" cy="3994610"/>
              </a:xfrm>
              <a:blipFill>
                <a:blip r:embed="rId3"/>
                <a:stretch>
                  <a:fillRect l="-6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投影片編號版面配置區 5">
            <a:extLst>
              <a:ext uri="{FF2B5EF4-FFF2-40B4-BE49-F238E27FC236}">
                <a16:creationId xmlns:a16="http://schemas.microsoft.com/office/drawing/2014/main" id="{1D9C032A-19B7-11EE-543E-511CBBF8D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>
            <a:normAutofit/>
          </a:bodyPr>
          <a:lstStyle/>
          <a:p>
            <a:pPr rtl="0"/>
            <a:fld id="{D39607A7-8386-47DB-8578-DDEDD194E5D4}" type="slidenum">
              <a:rPr lang="en-US" altLang="zh-TW" smtClean="0"/>
              <a:pPr rtl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884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F8FE9-65F9-5310-CE86-1AB0A7BCD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6C4CA3-33F0-AF28-9BA8-9F7E7666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627" y="1409482"/>
            <a:ext cx="3367541" cy="667403"/>
          </a:xfrm>
        </p:spPr>
        <p:txBody>
          <a:bodyPr wrap="square" rtlCol="0" anchor="b">
            <a:noAutofit/>
          </a:bodyPr>
          <a:lstStyle/>
          <a:p>
            <a:r>
              <a:rPr lang="zh-TW" altLang="en-US" dirty="0">
                <a:latin typeface="Aptos" panose="020B0004020202020204" pitchFamily="34" charset="0"/>
              </a:rPr>
              <a:t>模擬結果 </a:t>
            </a:r>
            <a:r>
              <a:rPr lang="en-US" altLang="zh-TW" dirty="0">
                <a:latin typeface="Aptos" panose="020B0004020202020204" pitchFamily="34" charset="0"/>
              </a:rPr>
              <a:t>(Results)</a:t>
            </a:r>
            <a:endParaRPr lang="zh-TW" altLang="en-US" dirty="0">
              <a:latin typeface="Aptos" panose="020B0004020202020204" pitchFamily="34" charset="0"/>
            </a:endParaRPr>
          </a:p>
        </p:txBody>
      </p:sp>
      <p:sp>
        <p:nvSpPr>
          <p:cNvPr id="104" name="投影片編號版面配置區 49">
            <a:extLst>
              <a:ext uri="{FF2B5EF4-FFF2-40B4-BE49-F238E27FC236}">
                <a16:creationId xmlns:a16="http://schemas.microsoft.com/office/drawing/2014/main" id="{8057FAE2-4B92-FFCF-3652-8DB677FC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/>
          <a:lstStyle/>
          <a:p>
            <a:pPr rtl="0"/>
            <a:fld id="{D39607A7-8386-47DB-8578-DDEDD194E5D4}" type="slidenum">
              <a:rPr lang="en-US" altLang="zh-TW" smtClean="0"/>
              <a:pPr rtl="0"/>
              <a:t>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6E76094F-F31B-0B45-FE36-8C183D3DF0AE}"/>
                  </a:ext>
                </a:extLst>
              </p:cNvPr>
              <p:cNvSpPr>
                <a:spLocks noGrp="1" noChangeArrowheads="1"/>
              </p:cNvSpPr>
              <p:nvPr>
                <p:ph type="body" sz="quarter" idx="13"/>
              </p:nvPr>
            </p:nvSpPr>
            <p:spPr bwMode="auto">
              <a:xfrm>
                <a:off x="7468214" y="2076885"/>
                <a:ext cx="4461601" cy="20104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zh-TW" altLang="en-US" sz="1900" dirty="0">
                    <a:latin typeface="Aptos" panose="020B0004020202020204" pitchFamily="34" charset="0"/>
                  </a:rPr>
                  <a:t>結論 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(Punchline)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：</a:t>
                </a:r>
                <a:endParaRPr lang="en-US" altLang="zh-TW" sz="1900" dirty="0">
                  <a:latin typeface="Aptos" panose="020B0004020202020204" pitchFamily="34" charset="0"/>
                </a:endParaRPr>
              </a:p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en-US" altLang="zh-TW" sz="1900" dirty="0">
                    <a:latin typeface="Aptos" panose="020B0004020202020204" pitchFamily="34" charset="0"/>
                  </a:rPr>
                  <a:t>p=5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時，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MSE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停在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9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zh-TW" altLang="en-US" sz="1900" i="0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zh-TW" altLang="en-US" sz="1900" dirty="0">
                    <a:latin typeface="Aptos" panose="020B0004020202020204" pitchFamily="34" charset="0"/>
                  </a:rPr>
                  <a:t>量級</a:t>
                </a:r>
                <a14:m>
                  <m:oMath xmlns:m="http://schemas.openxmlformats.org/officeDocument/2006/math">
                    <m:r>
                      <a:rPr lang="zh-TW" altLang="en-US" sz="19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TW" altLang="en-US" sz="1900" dirty="0">
                    <a:latin typeface="Aptos" panose="020B0004020202020204" pitchFamily="34" charset="0"/>
                  </a:rPr>
                  <a:t>學習失敗。</a:t>
                </a:r>
                <a:endParaRPr lang="en-US" altLang="zh-TW" sz="1900" dirty="0">
                  <a:latin typeface="Aptos" panose="020B0004020202020204" pitchFamily="34" charset="0"/>
                </a:endParaRPr>
              </a:p>
              <a:p>
                <a:pPr lvl="0" algn="l" fontAlgn="base">
                  <a:spcAft>
                    <a:spcPct val="0"/>
                  </a:spcAft>
                </a:pPr>
                <a:r>
                  <a:rPr lang="en-US" altLang="zh-TW" sz="1900" dirty="0">
                    <a:latin typeface="Aptos" panose="020B0004020202020204" pitchFamily="34" charset="0"/>
                  </a:rPr>
                  <a:t>p=10 &amp; p=20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時，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MSE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降至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90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zh-TW" altLang="en-US" sz="1900" i="0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zh-TW" altLang="en-US" sz="1900" dirty="0">
                    <a:latin typeface="Aptos" panose="020B0004020202020204" pitchFamily="34" charset="0"/>
                  </a:rPr>
                  <a:t>量級</a:t>
                </a:r>
                <a14:m>
                  <m:oMath xmlns:m="http://schemas.openxmlformats.org/officeDocument/2006/math">
                    <m:r>
                      <a:rPr lang="zh-TW" altLang="en-US" sz="19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TW" altLang="en-US" sz="1900" dirty="0">
                    <a:latin typeface="Aptos" panose="020B0004020202020204" pitchFamily="34" charset="0"/>
                  </a:rPr>
                  <a:t>學習成功。</a:t>
                </a:r>
                <a:endParaRPr kumimoji="0" lang="zh-TW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6E76094F-F31B-0B45-FE36-8C183D3DF0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 bwMode="auto">
              <a:xfrm>
                <a:off x="7468214" y="2076885"/>
                <a:ext cx="4461601" cy="2010422"/>
              </a:xfrm>
              <a:prstGeom prst="rect">
                <a:avLst/>
              </a:prstGeom>
              <a:blipFill>
                <a:blip r:embed="rId3"/>
                <a:stretch>
                  <a:fillRect l="-1230" r="-6831" b="-48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 descr="一張含有 文字, 螢幕擷取畫面, 字型, 軟體 的圖片&#10;&#10;AI 產生的內容可能不正確。">
            <a:extLst>
              <a:ext uri="{FF2B5EF4-FFF2-40B4-BE49-F238E27FC236}">
                <a16:creationId xmlns:a16="http://schemas.microsoft.com/office/drawing/2014/main" id="{8000D590-6D76-B361-0E73-5C2FEA718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76885"/>
            <a:ext cx="7468214" cy="448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979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D2731-4241-F4AD-7088-E459C30C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EBCD19-0B98-F744-D058-0C6819DAF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627" y="1415498"/>
            <a:ext cx="3024641" cy="667403"/>
          </a:xfrm>
        </p:spPr>
        <p:txBody>
          <a:bodyPr wrap="square" rtlCol="0" anchor="b">
            <a:noAutofit/>
          </a:bodyPr>
          <a:lstStyle/>
          <a:p>
            <a:r>
              <a:rPr lang="zh-TW" altLang="en-US" dirty="0"/>
              <a:t>模擬結果 </a:t>
            </a:r>
            <a:r>
              <a:rPr lang="en-US" altLang="zh-TW" dirty="0"/>
              <a:t>(p=5)</a:t>
            </a:r>
            <a:endParaRPr lang="zh-TW" altLang="en-US" dirty="0">
              <a:latin typeface="Aptos" panose="020B0004020202020204" pitchFamily="34" charset="0"/>
            </a:endParaRPr>
          </a:p>
        </p:txBody>
      </p:sp>
      <p:sp>
        <p:nvSpPr>
          <p:cNvPr id="104" name="投影片編號版面配置區 49">
            <a:extLst>
              <a:ext uri="{FF2B5EF4-FFF2-40B4-BE49-F238E27FC236}">
                <a16:creationId xmlns:a16="http://schemas.microsoft.com/office/drawing/2014/main" id="{38C682DD-CA95-3A76-EBEE-3441992AE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/>
          <a:lstStyle/>
          <a:p>
            <a:pPr rtl="0"/>
            <a:fld id="{D39607A7-8386-47DB-8578-DDEDD194E5D4}" type="slidenum">
              <a:rPr lang="en-US" altLang="zh-TW" smtClean="0"/>
              <a:pPr rtl="0"/>
              <a:t>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A490DBE6-BF04-EA6B-C54B-AE7EDAF1FDC3}"/>
                  </a:ext>
                </a:extLst>
              </p:cNvPr>
              <p:cNvSpPr>
                <a:spLocks noGrp="1" noChangeArrowheads="1"/>
              </p:cNvSpPr>
              <p:nvPr>
                <p:ph type="body" sz="quarter" idx="13"/>
              </p:nvPr>
            </p:nvSpPr>
            <p:spPr bwMode="auto">
              <a:xfrm>
                <a:off x="1649627" y="3345328"/>
                <a:ext cx="7999699" cy="21405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zh-TW" altLang="en-US" sz="1900" dirty="0">
                    <a:latin typeface="Aptos" panose="020B0004020202020204" pitchFamily="34" charset="0"/>
                  </a:rPr>
                  <a:t>結果：學習不足 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(Underfitting)</a:t>
                </a:r>
              </a:p>
              <a:p>
                <a:pPr lvl="0" algn="l" fontAlgn="base">
                  <a:spcAft>
                    <a:spcPct val="0"/>
                  </a:spcAft>
                </a:pPr>
                <a:r>
                  <a:rPr lang="zh-TW" altLang="en-US" sz="1900" dirty="0">
                    <a:latin typeface="Aptos" panose="020B0004020202020204" pitchFamily="34" charset="0"/>
                  </a:rPr>
                  <a:t>分析：最終 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MSE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zh-TW" altLang="en-US" sz="1900" dirty="0">
                    <a:latin typeface="Aptos" panose="020B0004020202020204" pitchFamily="34" charset="0"/>
                  </a:rPr>
                  <a:t>，誤差過高。</a:t>
                </a:r>
                <a:endParaRPr lang="en-US" altLang="zh-TW" sz="1900" dirty="0">
                  <a:latin typeface="Aptos" panose="020B0004020202020204" pitchFamily="34" charset="0"/>
                </a:endParaRPr>
              </a:p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en-US" altLang="zh-TW" sz="1900" dirty="0">
                    <a:latin typeface="Aptos" panose="020B0004020202020204" pitchFamily="34" charset="0"/>
                  </a:rPr>
                  <a:t>3D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學習曲面 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(Learned Surface)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完全失敗，只學出一個扭曲的平面。</a:t>
                </a:r>
                <a:endParaRPr lang="en-US" altLang="zh-TW" sz="1900" dirty="0">
                  <a:latin typeface="Aptos" panose="020B0004020202020204" pitchFamily="34" charset="0"/>
                </a:endParaRPr>
              </a:p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zh-TW" altLang="en-US" sz="1900" dirty="0">
                    <a:latin typeface="Aptos" panose="020B0004020202020204" pitchFamily="34" charset="0"/>
                  </a:rPr>
                  <a:t>結論： 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5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個神經元不足以表達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9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TW" altLang="en-US" sz="19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900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TW" altLang="en-US" sz="19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TW" altLang="en-US" sz="19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1900" dirty="0">
                    <a:latin typeface="Aptos" panose="020B0004020202020204" pitchFamily="34" charset="0"/>
                  </a:rPr>
                  <a:t>的複雜度。</a:t>
                </a:r>
                <a:endParaRPr kumimoji="0" lang="zh-TW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A490DBE6-BF04-EA6B-C54B-AE7EDAF1FD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 bwMode="auto">
              <a:xfrm>
                <a:off x="1649627" y="3345328"/>
                <a:ext cx="7999699" cy="2140522"/>
              </a:xfrm>
              <a:prstGeom prst="rect">
                <a:avLst/>
              </a:prstGeom>
              <a:blipFill>
                <a:blip r:embed="rId3"/>
                <a:stretch>
                  <a:fillRect l="-762" b="-4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 descr="一張含有 螢幕擷取畫面, 文字, 圖表, 設計 的圖片">
            <a:extLst>
              <a:ext uri="{FF2B5EF4-FFF2-40B4-BE49-F238E27FC236}">
                <a16:creationId xmlns:a16="http://schemas.microsoft.com/office/drawing/2014/main" id="{7ABC1C8A-509D-2182-46D4-2F20962C1C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" t="3704" r="-95" b="2469"/>
          <a:stretch>
            <a:fillRect/>
          </a:stretch>
        </p:blipFill>
        <p:spPr>
          <a:xfrm>
            <a:off x="5845342" y="25501"/>
            <a:ext cx="6346658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91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0DDDA-4AE3-AC10-C0F7-D86AD708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D08980-B0FD-E081-94F7-BA932CBF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627" y="1415498"/>
            <a:ext cx="3108862" cy="667403"/>
          </a:xfrm>
        </p:spPr>
        <p:txBody>
          <a:bodyPr wrap="square" rtlCol="0" anchor="b">
            <a:noAutofit/>
          </a:bodyPr>
          <a:lstStyle/>
          <a:p>
            <a:r>
              <a:rPr lang="zh-TW" altLang="en-US" dirty="0"/>
              <a:t>模擬結果 </a:t>
            </a:r>
            <a:r>
              <a:rPr lang="en-US" altLang="zh-TW" dirty="0"/>
              <a:t>(p=10)</a:t>
            </a:r>
            <a:endParaRPr lang="zh-TW" altLang="en-US" dirty="0">
              <a:latin typeface="Aptos" panose="020B0004020202020204" pitchFamily="34" charset="0"/>
            </a:endParaRPr>
          </a:p>
        </p:txBody>
      </p:sp>
      <p:sp>
        <p:nvSpPr>
          <p:cNvPr id="104" name="投影片編號版面配置區 49">
            <a:extLst>
              <a:ext uri="{FF2B5EF4-FFF2-40B4-BE49-F238E27FC236}">
                <a16:creationId xmlns:a16="http://schemas.microsoft.com/office/drawing/2014/main" id="{FC80AA2F-C7EB-0B11-07C4-8021B6B1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/>
          <a:lstStyle/>
          <a:p>
            <a:pPr rtl="0"/>
            <a:fld id="{D39607A7-8386-47DB-8578-DDEDD194E5D4}" type="slidenum">
              <a:rPr lang="en-US" altLang="zh-TW" smtClean="0"/>
              <a:pPr rtl="0"/>
              <a:t>7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79B74B3-EA61-F3D1-F8FB-8FAD2B71A8A8}"/>
                  </a:ext>
                </a:extLst>
              </p:cNvPr>
              <p:cNvSpPr>
                <a:spLocks noGrp="1" noChangeArrowheads="1"/>
              </p:cNvSpPr>
              <p:nvPr>
                <p:ph type="body" sz="quarter" idx="13"/>
              </p:nvPr>
            </p:nvSpPr>
            <p:spPr bwMode="auto">
              <a:xfrm>
                <a:off x="1649627" y="3577445"/>
                <a:ext cx="9124652" cy="21455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zh-TW" altLang="en-US" sz="1900" dirty="0">
                    <a:latin typeface="Aptos" panose="020B0004020202020204" pitchFamily="34" charset="0"/>
                  </a:rPr>
                  <a:t>結果：學習成功 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(Sufficient Fit)</a:t>
                </a:r>
              </a:p>
              <a:p>
                <a:pPr lvl="0" algn="l" fontAlgn="base">
                  <a:spcAft>
                    <a:spcPct val="0"/>
                  </a:spcAft>
                </a:pPr>
                <a:r>
                  <a:rPr lang="zh-TW" altLang="en-US" sz="1900" dirty="0">
                    <a:latin typeface="Aptos" panose="020B0004020202020204" pitchFamily="34" charset="0"/>
                  </a:rPr>
                  <a:t>分析：最終 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MSE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降至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zh-TW" altLang="en-US" sz="1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1900" dirty="0">
                    <a:latin typeface="Aptos" panose="020B0004020202020204" pitchFamily="34" charset="0"/>
                  </a:rPr>
                  <a:t>，誤差極低。</a:t>
                </a:r>
                <a:endParaRPr lang="en-US" altLang="zh-TW" sz="1900" dirty="0">
                  <a:latin typeface="Aptos" panose="020B0004020202020204" pitchFamily="34" charset="0"/>
                </a:endParaRPr>
              </a:p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en-US" altLang="zh-TW" sz="1900" dirty="0">
                    <a:latin typeface="Aptos" panose="020B0004020202020204" pitchFamily="34" charset="0"/>
                  </a:rPr>
                  <a:t>3D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學習曲面與「理想曲面」幾乎完美重疊。</a:t>
                </a:r>
                <a:endParaRPr lang="en-US" altLang="zh-TW" sz="1900" dirty="0">
                  <a:latin typeface="Aptos" panose="020B0004020202020204" pitchFamily="34" charset="0"/>
                </a:endParaRPr>
              </a:p>
              <a:p>
                <a:pPr marL="0" marR="0" lvl="0" indent="0" algn="l" fontAlgn="base">
                  <a:spcAft>
                    <a:spcPct val="0"/>
                  </a:spcAft>
                  <a:buSzTx/>
                  <a:tabLst/>
                </a:pPr>
                <a:r>
                  <a:rPr lang="zh-TW" altLang="en-US" sz="1900" dirty="0">
                    <a:latin typeface="Aptos" panose="020B0004020202020204" pitchFamily="34" charset="0"/>
                  </a:rPr>
                  <a:t>結論： </a:t>
                </a:r>
                <a:r>
                  <a:rPr lang="en-US" altLang="zh-TW" sz="1900" dirty="0">
                    <a:latin typeface="Aptos" panose="020B0004020202020204" pitchFamily="34" charset="0"/>
                  </a:rPr>
                  <a:t>10 </a:t>
                </a:r>
                <a:r>
                  <a:rPr lang="zh-TW" altLang="en-US" sz="1900" dirty="0">
                    <a:latin typeface="Aptos" panose="020B0004020202020204" pitchFamily="34" charset="0"/>
                  </a:rPr>
                  <a:t>個神經元已足夠完成此任務。</a:t>
                </a:r>
                <a:endParaRPr kumimoji="0" lang="zh-TW" altLang="zh-TW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79B74B3-EA61-F3D1-F8FB-8FAD2B71A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 bwMode="auto">
              <a:xfrm>
                <a:off x="1649627" y="3577445"/>
                <a:ext cx="9124652" cy="2145524"/>
              </a:xfrm>
              <a:prstGeom prst="rect">
                <a:avLst/>
              </a:prstGeom>
              <a:blipFill>
                <a:blip r:embed="rId3"/>
                <a:stretch>
                  <a:fillRect l="-668" b="-454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CD1BDF66-D382-94B6-9F12-200961B573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87" r="341" b="3225"/>
          <a:stretch>
            <a:fillRect/>
          </a:stretch>
        </p:blipFill>
        <p:spPr>
          <a:xfrm>
            <a:off x="6175071" y="0"/>
            <a:ext cx="6016929" cy="38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7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845DB-232D-9255-D481-081FDF476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22218A-B044-E80B-DD8E-A9544F65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627" y="1415498"/>
            <a:ext cx="3108862" cy="667403"/>
          </a:xfrm>
        </p:spPr>
        <p:txBody>
          <a:bodyPr wrap="square" rtlCol="0" anchor="b">
            <a:noAutofit/>
          </a:bodyPr>
          <a:lstStyle/>
          <a:p>
            <a:r>
              <a:rPr lang="zh-TW" altLang="en-US" dirty="0"/>
              <a:t>模擬結果 </a:t>
            </a:r>
            <a:r>
              <a:rPr lang="en-US" altLang="zh-TW" dirty="0"/>
              <a:t>(p=20)</a:t>
            </a:r>
            <a:endParaRPr lang="zh-TW" altLang="en-US" dirty="0">
              <a:latin typeface="Aptos" panose="020B0004020202020204" pitchFamily="34" charset="0"/>
            </a:endParaRPr>
          </a:p>
        </p:txBody>
      </p:sp>
      <p:sp>
        <p:nvSpPr>
          <p:cNvPr id="104" name="投影片編號版面配置區 49">
            <a:extLst>
              <a:ext uri="{FF2B5EF4-FFF2-40B4-BE49-F238E27FC236}">
                <a16:creationId xmlns:a16="http://schemas.microsoft.com/office/drawing/2014/main" id="{75B8797E-7F4B-029C-31D5-527808C5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/>
          <a:lstStyle/>
          <a:p>
            <a:pPr rtl="0"/>
            <a:fld id="{D39607A7-8386-47DB-8578-DDEDD194E5D4}" type="slidenum">
              <a:rPr lang="en-US" altLang="zh-TW" smtClean="0"/>
              <a:pPr rtl="0"/>
              <a:t>8</a:t>
            </a:fld>
            <a:endParaRPr lang="zh-TW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F8F751-C0D3-CF7D-BBDD-126EFADDA838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649627" y="3496071"/>
            <a:ext cx="9124652" cy="214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fontAlgn="base">
              <a:spcAft>
                <a:spcPct val="0"/>
              </a:spcAft>
              <a:buSzTx/>
              <a:tabLst/>
            </a:pPr>
            <a:r>
              <a:rPr lang="zh-TW" altLang="en-US" sz="1900" dirty="0">
                <a:latin typeface="Aptos" panose="020B0004020202020204" pitchFamily="34" charset="0"/>
              </a:rPr>
              <a:t>結果：效益遞減 </a:t>
            </a:r>
            <a:r>
              <a:rPr lang="en-US" altLang="zh-TW" sz="1900" dirty="0">
                <a:latin typeface="Aptos" panose="020B0004020202020204" pitchFamily="34" charset="0"/>
              </a:rPr>
              <a:t>(Diminishing Returns)</a:t>
            </a:r>
          </a:p>
          <a:p>
            <a:pPr marL="0" marR="0" lvl="0" indent="0" algn="l" fontAlgn="base">
              <a:spcAft>
                <a:spcPct val="0"/>
              </a:spcAft>
              <a:buSzTx/>
              <a:tabLst/>
            </a:pPr>
            <a:r>
              <a:rPr lang="zh-TW" altLang="en-US" sz="1900" dirty="0">
                <a:latin typeface="Aptos" panose="020B0004020202020204" pitchFamily="34" charset="0"/>
              </a:rPr>
              <a:t>分析：最終 </a:t>
            </a:r>
            <a:r>
              <a:rPr lang="en-US" altLang="zh-TW" sz="1900" dirty="0">
                <a:latin typeface="Aptos" panose="020B0004020202020204" pitchFamily="34" charset="0"/>
              </a:rPr>
              <a:t>MSE (2.6e-05) </a:t>
            </a:r>
            <a:r>
              <a:rPr lang="zh-TW" altLang="en-US" sz="1900" dirty="0">
                <a:latin typeface="Aptos" panose="020B0004020202020204" pitchFamily="34" charset="0"/>
              </a:rPr>
              <a:t>只比 </a:t>
            </a:r>
            <a:r>
              <a:rPr lang="en-US" altLang="zh-TW" sz="1900" dirty="0">
                <a:latin typeface="Aptos" panose="020B0004020202020204" pitchFamily="34" charset="0"/>
              </a:rPr>
              <a:t>p=10 (3.7e-05) </a:t>
            </a:r>
            <a:r>
              <a:rPr lang="zh-TW" altLang="en-US" sz="1900" dirty="0">
                <a:latin typeface="Aptos" panose="020B0004020202020204" pitchFamily="34" charset="0"/>
              </a:rPr>
              <a:t>略好。</a:t>
            </a:r>
            <a:endParaRPr lang="en-US" altLang="zh-TW" sz="1900" dirty="0">
              <a:latin typeface="Aptos" panose="020B0004020202020204" pitchFamily="34" charset="0"/>
            </a:endParaRPr>
          </a:p>
          <a:p>
            <a:pPr marL="0" marR="0" lvl="0" indent="0" algn="l" fontAlgn="base">
              <a:spcAft>
                <a:spcPct val="0"/>
              </a:spcAft>
              <a:buSzTx/>
              <a:tabLst/>
            </a:pPr>
            <a:r>
              <a:rPr lang="en-US" altLang="zh-TW" sz="1900" dirty="0">
                <a:latin typeface="Aptos" panose="020B0004020202020204" pitchFamily="34" charset="0"/>
              </a:rPr>
              <a:t>3D </a:t>
            </a:r>
            <a:r>
              <a:rPr lang="zh-TW" altLang="en-US" sz="1900" dirty="0">
                <a:latin typeface="Aptos" panose="020B0004020202020204" pitchFamily="34" charset="0"/>
              </a:rPr>
              <a:t>曲面同樣完美貼合。</a:t>
            </a:r>
            <a:endParaRPr lang="en-US" altLang="zh-TW" sz="1900" dirty="0">
              <a:latin typeface="Aptos" panose="020B0004020202020204" pitchFamily="34" charset="0"/>
            </a:endParaRPr>
          </a:p>
          <a:p>
            <a:pPr marL="0" marR="0" lvl="0" indent="0" algn="l" fontAlgn="base">
              <a:spcAft>
                <a:spcPct val="0"/>
              </a:spcAft>
              <a:buSzTx/>
              <a:tabLst/>
            </a:pPr>
            <a:r>
              <a:rPr lang="zh-TW" altLang="en-US" sz="1900" dirty="0">
                <a:latin typeface="Aptos" panose="020B0004020202020204" pitchFamily="34" charset="0"/>
              </a:rPr>
              <a:t>結論： 網路複雜度加倍，但</a:t>
            </a:r>
            <a:r>
              <a:rPr lang="zh-TW" altLang="en-US" sz="1900" b="1" dirty="0">
                <a:latin typeface="Aptos" panose="020B0004020202020204" pitchFamily="34" charset="0"/>
              </a:rPr>
              <a:t>效能提升有限</a:t>
            </a:r>
            <a:r>
              <a:rPr lang="zh-TW" altLang="en-US" sz="1900" dirty="0">
                <a:latin typeface="Aptos" panose="020B0004020202020204" pitchFamily="34" charset="0"/>
              </a:rPr>
              <a:t>。</a:t>
            </a: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CEEEC96E-EC47-83FB-4F9A-2DA58AF21E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87" r="341" b="3225"/>
          <a:stretch>
            <a:fillRect/>
          </a:stretch>
        </p:blipFill>
        <p:spPr>
          <a:xfrm>
            <a:off x="6175071" y="0"/>
            <a:ext cx="6016929" cy="387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12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13AC9-A0C4-32CD-8C88-B7220E3B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342F46-C2BD-F149-01F9-DDD56433C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64" y="959797"/>
            <a:ext cx="5414989" cy="655760"/>
          </a:xfrm>
        </p:spPr>
        <p:txBody>
          <a:bodyPr wrap="square" rtlCol="0" anchor="b">
            <a:normAutofit fontScale="90000"/>
          </a:bodyPr>
          <a:lstStyle/>
          <a:p>
            <a:r>
              <a:rPr lang="zh-TW" altLang="en-US" dirty="0"/>
              <a:t>模擬結果 </a:t>
            </a:r>
            <a:r>
              <a:rPr lang="en-US" altLang="zh-TW" dirty="0"/>
              <a:t>- </a:t>
            </a:r>
            <a:r>
              <a:rPr lang="zh-TW" altLang="en-US" dirty="0"/>
              <a:t>收斂曲線 </a:t>
            </a:r>
            <a:r>
              <a:rPr lang="en-US" altLang="zh-TW" dirty="0"/>
              <a:t>(MSE) </a:t>
            </a:r>
            <a:r>
              <a:rPr lang="zh-TW" altLang="en-US" dirty="0"/>
              <a:t>分析</a:t>
            </a:r>
            <a:endParaRPr lang="zh-TW" alt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AAFDA05-78B6-F363-8250-5BA6B46F5B52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>
              <a:xfrm>
                <a:off x="1424964" y="2279858"/>
                <a:ext cx="5078104" cy="1353679"/>
              </a:xfrm>
            </p:spPr>
            <p:txBody>
              <a:bodyPr rtlCol="0">
                <a:noAutofit/>
              </a:bodyPr>
              <a:lstStyle/>
              <a:p>
                <a:pPr algn="l"/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p=10 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和 </a:t>
                </a:r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p=20 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成功收斂到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zh-TW" altLang="en-US" sz="19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</a:t>
                </a:r>
                <a:endParaRPr lang="en-US" altLang="zh-TW" sz="1900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l"/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p=5 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只降到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就卡住了 </a:t>
                </a:r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收斂失敗</a:t>
                </a:r>
                <a:r>
                  <a:rPr lang="en-US" altLang="zh-TW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)</a:t>
                </a:r>
                <a:r>
                  <a:rPr lang="zh-TW" altLang="en-US" sz="1900" dirty="0">
                    <a:solidFill>
                      <a:schemeClr val="tx1">
                        <a:alpha val="60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。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AAFDA05-78B6-F363-8250-5BA6B46F5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1424964" y="2279858"/>
                <a:ext cx="5078104" cy="1353679"/>
              </a:xfrm>
              <a:blipFill>
                <a:blip r:embed="rId3"/>
                <a:stretch>
                  <a:fillRect l="-9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投影片編號版面配置區 5">
            <a:extLst>
              <a:ext uri="{FF2B5EF4-FFF2-40B4-BE49-F238E27FC236}">
                <a16:creationId xmlns:a16="http://schemas.microsoft.com/office/drawing/2014/main" id="{F0960AC7-24EF-0964-C7C8-07B99717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>
            <a:normAutofit/>
          </a:bodyPr>
          <a:lstStyle/>
          <a:p>
            <a:pPr rtl="0"/>
            <a:fld id="{D39607A7-8386-47DB-8578-DDEDD194E5D4}" type="slidenum">
              <a:rPr lang="en-US" altLang="zh-TW" smtClean="0"/>
              <a:pPr rtl="0"/>
              <a:t>9</a:t>
            </a:fld>
            <a:endParaRPr lang="zh-TW" altLang="en-US"/>
          </a:p>
        </p:txBody>
      </p:sp>
      <p:pic>
        <p:nvPicPr>
          <p:cNvPr id="5" name="圖片 4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2C89E4E5-62D3-6C16-7F71-A63B5EA30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89763"/>
            <a:ext cx="3749141" cy="2198237"/>
          </a:xfrm>
          <a:prstGeom prst="rect">
            <a:avLst/>
          </a:prstGeom>
        </p:spPr>
      </p:pic>
      <p:pic>
        <p:nvPicPr>
          <p:cNvPr id="7" name="圖片 6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2E372D77-8538-8E8A-9364-9DC07F5D2D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141" y="4346050"/>
            <a:ext cx="4272892" cy="2325558"/>
          </a:xfrm>
          <a:prstGeom prst="rect">
            <a:avLst/>
          </a:prstGeom>
        </p:spPr>
      </p:pic>
      <p:pic>
        <p:nvPicPr>
          <p:cNvPr id="9" name="圖片 8" descr="一張含有 文字, 螢幕擷取畫面, 陳列, Rectangle 的圖片&#10;&#10;AI 產生的內容可能不正確。">
            <a:extLst>
              <a:ext uri="{FF2B5EF4-FFF2-40B4-BE49-F238E27FC236}">
                <a16:creationId xmlns:a16="http://schemas.microsoft.com/office/drawing/2014/main" id="{BE707D5C-50E7-E999-4137-A75F98228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2033" y="4327070"/>
            <a:ext cx="4169967" cy="232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07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AA2A29-2371-D117-C430-DAAB9293E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EEDD27-E462-FDB3-206A-AD30FAD3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65" y="959797"/>
            <a:ext cx="3429778" cy="655760"/>
          </a:xfrm>
        </p:spPr>
        <p:txBody>
          <a:bodyPr wrap="square" rtlCol="0" anchor="b">
            <a:normAutofit/>
          </a:bodyPr>
          <a:lstStyle/>
          <a:p>
            <a:r>
              <a:rPr lang="zh-TW" altLang="en-US" dirty="0"/>
              <a:t>結論 </a:t>
            </a:r>
            <a:r>
              <a:rPr lang="en-US" altLang="zh-TW" dirty="0"/>
              <a:t>(Conclusion)</a:t>
            </a:r>
            <a:endParaRPr lang="zh-TW" alt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47BF33-2837-7587-1733-75AB926B2248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>
              <a:xfrm>
                <a:off x="1424963" y="2279858"/>
                <a:ext cx="9463615" cy="4163053"/>
              </a:xfrm>
            </p:spPr>
            <p:txBody>
              <a:bodyPr rtlCol="0">
                <a:noAutofit/>
              </a:bodyPr>
              <a:lstStyle/>
              <a:p>
                <a:pPr marL="0" indent="0" algn="l">
                  <a:buNone/>
                </a:pPr>
                <a:r>
                  <a:rPr lang="en-US" altLang="zh-TW" sz="1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1.</a:t>
                </a:r>
                <a:r>
                  <a:rPr lang="zh-TW" altLang="en-US" sz="1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網路容量是關鍵：</a:t>
                </a:r>
                <a:endParaRPr lang="en-US" altLang="zh-TW" sz="19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buNone/>
                </a:pPr>
                <a:r>
                  <a:rPr lang="en-US" altLang="zh-TW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p=5 </a:t>
                </a:r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學習不足 </a:t>
                </a:r>
                <a:r>
                  <a:rPr lang="en-US" altLang="zh-TW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(Underfitting)</a:t>
                </a:r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，導致學習失敗。</a:t>
                </a:r>
                <a:endParaRPr lang="en-US" altLang="zh-TW" sz="19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buNone/>
                </a:pPr>
                <a:r>
                  <a:rPr lang="en-US" altLang="zh-TW" sz="1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2. </a:t>
                </a:r>
                <a:r>
                  <a:rPr lang="zh-TW" altLang="en-US" sz="1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學習成功：</a:t>
                </a:r>
                <a:endParaRPr lang="en-US" altLang="zh-TW" sz="19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buNone/>
                </a:pPr>
                <a:r>
                  <a:rPr lang="en-US" altLang="zh-TW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p=10 </a:t>
                </a:r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已足夠完美模擬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9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TW" altLang="en-US" sz="19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900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TW" altLang="en-US" sz="19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TW" altLang="en-US" sz="19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的曲面，達到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en-US" sz="1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zh-TW" altLang="en-US" sz="190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的誤差。</a:t>
                </a:r>
                <a:endParaRPr lang="en-US" altLang="zh-TW" sz="19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buNone/>
                </a:pPr>
                <a:r>
                  <a:rPr lang="en-US" altLang="zh-TW" sz="1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3. </a:t>
                </a:r>
                <a:r>
                  <a:rPr lang="zh-TW" altLang="en-US" sz="19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效益遞減：</a:t>
                </a:r>
                <a:endParaRPr lang="en-US" altLang="zh-TW" sz="19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buNone/>
                </a:pPr>
                <a:r>
                  <a:rPr lang="en-US" altLang="zh-TW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p=20 </a:t>
                </a:r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效能提升有限，顯示 </a:t>
                </a:r>
                <a:r>
                  <a:rPr lang="en-US" altLang="zh-TW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p=10 </a:t>
                </a:r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是 </a:t>
                </a:r>
                <a:r>
                  <a:rPr lang="en-US" altLang="zh-TW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CP </a:t>
                </a:r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值最高的選擇。</a:t>
                </a:r>
                <a:endParaRPr lang="en-US" altLang="zh-TW" sz="19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marL="0" indent="0" algn="l">
                  <a:buNone/>
                </a:pPr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總結：證明 </a:t>
                </a:r>
                <a:r>
                  <a:rPr lang="en-US" altLang="zh-TW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BP </a:t>
                </a:r>
                <a:r>
                  <a:rPr lang="zh-TW" altLang="en-US" sz="19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演算法只要有足夠的隱藏層規模，就能成功學習複雜的非線性函數。</a:t>
                </a:r>
                <a:endParaRPr lang="zh-TW" altLang="en-US" sz="1900" dirty="0">
                  <a:solidFill>
                    <a:schemeClr val="tx1">
                      <a:alpha val="6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47BF33-2837-7587-1733-75AB926B22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1424963" y="2279858"/>
                <a:ext cx="9463615" cy="4163053"/>
              </a:xfrm>
              <a:blipFill>
                <a:blip r:embed="rId3"/>
                <a:stretch>
                  <a:fillRect l="-6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投影片編號版面配置區 5">
            <a:extLst>
              <a:ext uri="{FF2B5EF4-FFF2-40B4-BE49-F238E27FC236}">
                <a16:creationId xmlns:a16="http://schemas.microsoft.com/office/drawing/2014/main" id="{2E0AC59B-CA86-216D-7917-0B3F7C5D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>
            <a:normAutofit/>
          </a:bodyPr>
          <a:lstStyle/>
          <a:p>
            <a:pPr rtl="0"/>
            <a:fld id="{D39607A7-8386-47DB-8578-DDEDD194E5D4}" type="slidenum">
              <a:rPr lang="en-US" altLang="zh-TW" smtClean="0"/>
              <a:pPr rtl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0188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1943" y="2186147"/>
            <a:ext cx="3948114" cy="1460669"/>
          </a:xfrm>
        </p:spPr>
        <p:txBody>
          <a:bodyPr wrap="square" rtlCol="0" anchor="b">
            <a:normAutofit/>
          </a:bodyPr>
          <a:lstStyle/>
          <a:p>
            <a:pPr rtl="0"/>
            <a:r>
              <a:rPr lang="zh-TW" altLang="en-US" sz="4000" dirty="0">
                <a:latin typeface="Aptos" panose="020B0004020202020204" pitchFamily="34" charset="0"/>
              </a:rPr>
              <a:t>報告結束</a:t>
            </a:r>
          </a:p>
        </p:txBody>
      </p:sp>
      <p:sp>
        <p:nvSpPr>
          <p:cNvPr id="126" name="投影片編號版面配置區 49">
            <a:extLst>
              <a:ext uri="{FF2B5EF4-FFF2-40B4-BE49-F238E27FC236}">
                <a16:creationId xmlns:a16="http://schemas.microsoft.com/office/drawing/2014/main" id="{64086F3C-129F-4A29-A09C-7700661E0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82800" y="6357600"/>
            <a:ext cx="1760150" cy="460800"/>
          </a:xfrm>
        </p:spPr>
        <p:txBody>
          <a:bodyPr rtlCol="0"/>
          <a:lstStyle/>
          <a:p>
            <a:pPr rtl="0"/>
            <a:fld id="{D39607A7-8386-47DB-8578-DDEDD194E5D4}" type="slidenum">
              <a:rPr lang="en-US" altLang="zh-TW" smtClean="0"/>
              <a:pPr rtl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CB9D788-52D8-46C3-92EC-553D7E4077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E64C41-CC88-4734-A7CC-5A92B49867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74A8BD-7470-4767-A78C-01B8DE47DE70}">
  <ds:schemaRefs>
    <ds:schemaRef ds:uri="http://purl.org/dc/elements/1.1/"/>
    <ds:schemaRef ds:uri="16c05727-aa75-4e4a-9b5f-8a80a1165891"/>
    <ds:schemaRef ds:uri="http://purl.org/dc/dcmitype/"/>
    <ds:schemaRef ds:uri="71af3243-3dd4-4a8d-8c0d-dd76da1f02a5"/>
    <ds:schemaRef ds:uri="http://schemas.microsoft.com/office/infopath/2007/PartnerControls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230e9df3-be65-4c73-a93b-d1236ebd677e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霧面設計</Template>
  <TotalTime>63</TotalTime>
  <Words>607</Words>
  <Application>Microsoft Office PowerPoint</Application>
  <PresentationFormat>寬螢幕</PresentationFormat>
  <Paragraphs>75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Microsoft JhengHei UI</vt:lpstr>
      <vt:lpstr>微軟正黑體</vt:lpstr>
      <vt:lpstr>Aptos</vt:lpstr>
      <vt:lpstr>Arial</vt:lpstr>
      <vt:lpstr>Calibri</vt:lpstr>
      <vt:lpstr>Cambria Math</vt:lpstr>
      <vt:lpstr>Wingdings</vt:lpstr>
      <vt:lpstr>FrostyVTI</vt:lpstr>
      <vt:lpstr>使用倒傳遞演算法 (BP) 模擬f(x_1,x_2 )=x_1^2+x_2^2</vt:lpstr>
      <vt:lpstr>Objective</vt:lpstr>
      <vt:lpstr>Procedure - 網路架構與方法</vt:lpstr>
      <vt:lpstr>Procedure - 實驗參數</vt:lpstr>
      <vt:lpstr>模擬結果 (Results)</vt:lpstr>
      <vt:lpstr>模擬結果 (p=5)</vt:lpstr>
      <vt:lpstr>模擬結果 (p=10)</vt:lpstr>
      <vt:lpstr>模擬結果 (p=20)</vt:lpstr>
      <vt:lpstr>模擬結果 - 收斂曲線 (MSE) 分析</vt:lpstr>
      <vt:lpstr>結論 (Conclusion)</vt:lpstr>
      <vt:lpstr>報告結束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桑瑋佑</dc:creator>
  <cp:lastModifiedBy>桑瑋佑</cp:lastModifiedBy>
  <cp:revision>1</cp:revision>
  <dcterms:created xsi:type="dcterms:W3CDTF">2025-10-30T13:42:34Z</dcterms:created>
  <dcterms:modified xsi:type="dcterms:W3CDTF">2025-10-30T14:46:32Z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