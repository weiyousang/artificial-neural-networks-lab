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7" r:id="rId8"/>
    <p:sldId id="268" r:id="rId9"/>
    <p:sldId id="260" r:id="rId10"/>
    <p:sldId id="264" r:id="rId11"/>
    <p:sldId id="261" r:id="rId12"/>
    <p:sldId id="265" r:id="rId13"/>
    <p:sldId id="266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70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6B37B-1411-4349-9887-45E892A615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27FD00D-D872-4197-97A3-260319B031C1}">
      <dgm:prSet/>
      <dgm:spPr/>
      <dgm:t>
        <a:bodyPr/>
        <a:lstStyle/>
        <a:p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建立 </a:t>
          </a:r>
          <a:r>
            <a:rPr 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Hopfield </a:t>
          </a:r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網路儲存五個數字（</a:t>
          </a:r>
          <a:r>
            <a:rPr 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1,3,5,7,9</a:t>
          </a:r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6E2AF40-D063-40C2-9E88-0A4632C66FB5}" type="parTrans" cxnId="{5B8DBFB8-F511-4CAF-9106-F560DAD1FC45}">
      <dgm:prSet/>
      <dgm:spPr/>
      <dgm:t>
        <a:bodyPr/>
        <a:lstStyle/>
        <a:p>
          <a:endParaRPr lang="en-US"/>
        </a:p>
      </dgm:t>
    </dgm:pt>
    <dgm:pt modelId="{00CC8F95-1A90-4049-B04B-FC14FDD9A090}" type="sibTrans" cxnId="{5B8DBFB8-F511-4CAF-9106-F560DAD1FC45}">
      <dgm:prSet/>
      <dgm:spPr/>
      <dgm:t>
        <a:bodyPr/>
        <a:lstStyle/>
        <a:p>
          <a:endParaRPr lang="en-US"/>
        </a:p>
      </dgm:t>
    </dgm:pt>
    <dgm:pt modelId="{1E319D23-1438-4E2B-BDC7-D7F6981AFA9E}">
      <dgm:prSet/>
      <dgm:spPr/>
      <dgm:t>
        <a:bodyPr/>
        <a:lstStyle/>
        <a:p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測試網路在 </a:t>
          </a:r>
          <a:r>
            <a:rPr 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noise </a:t>
          </a:r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與 </a:t>
          </a:r>
          <a:r>
            <a:rPr 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missing </a:t>
          </a:r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擾動下的 </a:t>
          </a:r>
          <a:r>
            <a:rPr 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recall </a:t>
          </a:r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能力</a:t>
          </a:r>
          <a:endParaRPr 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ED7B059-B666-4051-91BD-815D38AE2C59}" type="parTrans" cxnId="{401716DA-8DF7-47EE-B8F6-BCEA80FD17A7}">
      <dgm:prSet/>
      <dgm:spPr/>
      <dgm:t>
        <a:bodyPr/>
        <a:lstStyle/>
        <a:p>
          <a:endParaRPr lang="en-US"/>
        </a:p>
      </dgm:t>
    </dgm:pt>
    <dgm:pt modelId="{3489E5D2-66FF-475F-B685-3642C3345D9E}" type="sibTrans" cxnId="{401716DA-8DF7-47EE-B8F6-BCEA80FD17A7}">
      <dgm:prSet/>
      <dgm:spPr/>
      <dgm:t>
        <a:bodyPr/>
        <a:lstStyle/>
        <a:p>
          <a:endParaRPr lang="en-US"/>
        </a:p>
      </dgm:t>
    </dgm:pt>
    <dgm:pt modelId="{04F532BE-6A32-4A9D-B090-8C5CFAF7857F}">
      <dgm:prSet/>
      <dgm:spPr/>
      <dgm:t>
        <a:bodyPr/>
        <a:lstStyle/>
        <a:p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分析 能量收斂 與 不同 </a:t>
          </a:r>
          <a:r>
            <a:rPr 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digit </a:t>
          </a:r>
          <a:r>
            <a:rPr 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之間穩定度的差異</a:t>
          </a:r>
          <a:endParaRPr 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E8984D5-87E4-4BF4-B9D7-2C7B43849ADC}" type="parTrans" cxnId="{08F1642F-3EEB-47BD-B970-2C04CCF0E667}">
      <dgm:prSet/>
      <dgm:spPr/>
      <dgm:t>
        <a:bodyPr/>
        <a:lstStyle/>
        <a:p>
          <a:endParaRPr lang="en-US"/>
        </a:p>
      </dgm:t>
    </dgm:pt>
    <dgm:pt modelId="{7C092ADC-D9DD-494E-9A36-AA730552C451}" type="sibTrans" cxnId="{08F1642F-3EEB-47BD-B970-2C04CCF0E667}">
      <dgm:prSet/>
      <dgm:spPr/>
      <dgm:t>
        <a:bodyPr/>
        <a:lstStyle/>
        <a:p>
          <a:endParaRPr lang="en-US"/>
        </a:p>
      </dgm:t>
    </dgm:pt>
    <dgm:pt modelId="{B698B0CC-EBCE-4737-B23C-8FCB7C7D0126}" type="pres">
      <dgm:prSet presAssocID="{18D6B37B-1411-4349-9887-45E892A615D1}" presName="root" presStyleCnt="0">
        <dgm:presLayoutVars>
          <dgm:dir/>
          <dgm:resizeHandles val="exact"/>
        </dgm:presLayoutVars>
      </dgm:prSet>
      <dgm:spPr/>
    </dgm:pt>
    <dgm:pt modelId="{D293B584-4DF2-4C9F-A2B0-8CAF8EFE7EB9}" type="pres">
      <dgm:prSet presAssocID="{427FD00D-D872-4197-97A3-260319B031C1}" presName="compNode" presStyleCnt="0"/>
      <dgm:spPr/>
    </dgm:pt>
    <dgm:pt modelId="{15F2661D-FD9C-4112-B808-536CCCAC8748}" type="pres">
      <dgm:prSet presAssocID="{427FD00D-D872-4197-97A3-260319B031C1}" presName="bgRect" presStyleLbl="bgShp" presStyleIdx="0" presStyleCnt="3"/>
      <dgm:spPr/>
    </dgm:pt>
    <dgm:pt modelId="{0F6675EA-3572-45B8-85BD-BF3D7BF2B02C}" type="pres">
      <dgm:prSet presAssocID="{427FD00D-D872-4197-97A3-260319B031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階層圖"/>
        </a:ext>
      </dgm:extLst>
    </dgm:pt>
    <dgm:pt modelId="{15E8A5ED-2394-43DF-AC08-C3E0AB857A05}" type="pres">
      <dgm:prSet presAssocID="{427FD00D-D872-4197-97A3-260319B031C1}" presName="spaceRect" presStyleCnt="0"/>
      <dgm:spPr/>
    </dgm:pt>
    <dgm:pt modelId="{C629D353-D73A-42FB-A87A-9A1523337CA5}" type="pres">
      <dgm:prSet presAssocID="{427FD00D-D872-4197-97A3-260319B031C1}" presName="parTx" presStyleLbl="revTx" presStyleIdx="0" presStyleCnt="3">
        <dgm:presLayoutVars>
          <dgm:chMax val="0"/>
          <dgm:chPref val="0"/>
        </dgm:presLayoutVars>
      </dgm:prSet>
      <dgm:spPr/>
    </dgm:pt>
    <dgm:pt modelId="{840016BD-DC11-4CF6-AACD-C52A2A7A2F07}" type="pres">
      <dgm:prSet presAssocID="{00CC8F95-1A90-4049-B04B-FC14FDD9A090}" presName="sibTrans" presStyleCnt="0"/>
      <dgm:spPr/>
    </dgm:pt>
    <dgm:pt modelId="{E8B86939-1068-4F6C-9C5B-DC292858360B}" type="pres">
      <dgm:prSet presAssocID="{1E319D23-1438-4E2B-BDC7-D7F6981AFA9E}" presName="compNode" presStyleCnt="0"/>
      <dgm:spPr/>
    </dgm:pt>
    <dgm:pt modelId="{31DDC1B0-84FD-4D49-803D-BD2A70527405}" type="pres">
      <dgm:prSet presAssocID="{1E319D23-1438-4E2B-BDC7-D7F6981AFA9E}" presName="bgRect" presStyleLbl="bgShp" presStyleIdx="1" presStyleCnt="3"/>
      <dgm:spPr/>
    </dgm:pt>
    <dgm:pt modelId="{35836FD7-1EA8-400B-973A-2269DE6EB971}" type="pres">
      <dgm:prSet presAssocID="{1E319D23-1438-4E2B-BDC7-D7F6981AFA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核取記號"/>
        </a:ext>
      </dgm:extLst>
    </dgm:pt>
    <dgm:pt modelId="{3258BC4E-6352-42AC-9FD6-85BA65A67A05}" type="pres">
      <dgm:prSet presAssocID="{1E319D23-1438-4E2B-BDC7-D7F6981AFA9E}" presName="spaceRect" presStyleCnt="0"/>
      <dgm:spPr/>
    </dgm:pt>
    <dgm:pt modelId="{CD58543D-F12D-434C-BD23-2815EFFDB766}" type="pres">
      <dgm:prSet presAssocID="{1E319D23-1438-4E2B-BDC7-D7F6981AFA9E}" presName="parTx" presStyleLbl="revTx" presStyleIdx="1" presStyleCnt="3">
        <dgm:presLayoutVars>
          <dgm:chMax val="0"/>
          <dgm:chPref val="0"/>
        </dgm:presLayoutVars>
      </dgm:prSet>
      <dgm:spPr/>
    </dgm:pt>
    <dgm:pt modelId="{AEA2F228-0865-46AF-8ECF-57D6875DD510}" type="pres">
      <dgm:prSet presAssocID="{3489E5D2-66FF-475F-B685-3642C3345D9E}" presName="sibTrans" presStyleCnt="0"/>
      <dgm:spPr/>
    </dgm:pt>
    <dgm:pt modelId="{3FB83D58-EA3A-4DA0-ACEB-E5B342A5AB57}" type="pres">
      <dgm:prSet presAssocID="{04F532BE-6A32-4A9D-B090-8C5CFAF7857F}" presName="compNode" presStyleCnt="0"/>
      <dgm:spPr/>
    </dgm:pt>
    <dgm:pt modelId="{1BCDC956-BE9B-4EEC-B591-D52C0833A578}" type="pres">
      <dgm:prSet presAssocID="{04F532BE-6A32-4A9D-B090-8C5CFAF7857F}" presName="bgRect" presStyleLbl="bgShp" presStyleIdx="2" presStyleCnt="3"/>
      <dgm:spPr/>
    </dgm:pt>
    <dgm:pt modelId="{D9F3254B-432F-482D-83C5-EFFE81A8B976}" type="pres">
      <dgm:prSet presAssocID="{04F532BE-6A32-4A9D-B090-8C5CFAF785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300B512-7FFC-48DE-B10C-35ADBA19153F}" type="pres">
      <dgm:prSet presAssocID="{04F532BE-6A32-4A9D-B090-8C5CFAF7857F}" presName="spaceRect" presStyleCnt="0"/>
      <dgm:spPr/>
    </dgm:pt>
    <dgm:pt modelId="{A988EAF7-7F9A-47A4-B996-0D935B0BB1B1}" type="pres">
      <dgm:prSet presAssocID="{04F532BE-6A32-4A9D-B090-8C5CFAF7857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F1642F-3EEB-47BD-B970-2C04CCF0E667}" srcId="{18D6B37B-1411-4349-9887-45E892A615D1}" destId="{04F532BE-6A32-4A9D-B090-8C5CFAF7857F}" srcOrd="2" destOrd="0" parTransId="{8E8984D5-87E4-4BF4-B9D7-2C7B43849ADC}" sibTransId="{7C092ADC-D9DD-494E-9A36-AA730552C451}"/>
    <dgm:cxn modelId="{E7D1BC6B-9A12-42FB-BE20-71F1BCD7E4AD}" type="presOf" srcId="{18D6B37B-1411-4349-9887-45E892A615D1}" destId="{B698B0CC-EBCE-4737-B23C-8FCB7C7D0126}" srcOrd="0" destOrd="0" presId="urn:microsoft.com/office/officeart/2018/2/layout/IconVerticalSolidList"/>
    <dgm:cxn modelId="{5B8DBFB8-F511-4CAF-9106-F560DAD1FC45}" srcId="{18D6B37B-1411-4349-9887-45E892A615D1}" destId="{427FD00D-D872-4197-97A3-260319B031C1}" srcOrd="0" destOrd="0" parTransId="{A6E2AF40-D063-40C2-9E88-0A4632C66FB5}" sibTransId="{00CC8F95-1A90-4049-B04B-FC14FDD9A090}"/>
    <dgm:cxn modelId="{5F87BDC1-EC93-41DC-8D68-A0713160CB9B}" type="presOf" srcId="{04F532BE-6A32-4A9D-B090-8C5CFAF7857F}" destId="{A988EAF7-7F9A-47A4-B996-0D935B0BB1B1}" srcOrd="0" destOrd="0" presId="urn:microsoft.com/office/officeart/2018/2/layout/IconVerticalSolidList"/>
    <dgm:cxn modelId="{1836D9C4-243A-42AA-9C19-F4FD37136B67}" type="presOf" srcId="{1E319D23-1438-4E2B-BDC7-D7F6981AFA9E}" destId="{CD58543D-F12D-434C-BD23-2815EFFDB766}" srcOrd="0" destOrd="0" presId="urn:microsoft.com/office/officeart/2018/2/layout/IconVerticalSolidList"/>
    <dgm:cxn modelId="{401716DA-8DF7-47EE-B8F6-BCEA80FD17A7}" srcId="{18D6B37B-1411-4349-9887-45E892A615D1}" destId="{1E319D23-1438-4E2B-BDC7-D7F6981AFA9E}" srcOrd="1" destOrd="0" parTransId="{0ED7B059-B666-4051-91BD-815D38AE2C59}" sibTransId="{3489E5D2-66FF-475F-B685-3642C3345D9E}"/>
    <dgm:cxn modelId="{556F79EC-9F99-409A-ACBB-597E0E2CD182}" type="presOf" srcId="{427FD00D-D872-4197-97A3-260319B031C1}" destId="{C629D353-D73A-42FB-A87A-9A1523337CA5}" srcOrd="0" destOrd="0" presId="urn:microsoft.com/office/officeart/2018/2/layout/IconVerticalSolidList"/>
    <dgm:cxn modelId="{56013FFF-8CC5-40F1-8730-5D8D9B51A839}" type="presParOf" srcId="{B698B0CC-EBCE-4737-B23C-8FCB7C7D0126}" destId="{D293B584-4DF2-4C9F-A2B0-8CAF8EFE7EB9}" srcOrd="0" destOrd="0" presId="urn:microsoft.com/office/officeart/2018/2/layout/IconVerticalSolidList"/>
    <dgm:cxn modelId="{523E99D6-65C9-4B40-8484-143AB71CA89D}" type="presParOf" srcId="{D293B584-4DF2-4C9F-A2B0-8CAF8EFE7EB9}" destId="{15F2661D-FD9C-4112-B808-536CCCAC8748}" srcOrd="0" destOrd="0" presId="urn:microsoft.com/office/officeart/2018/2/layout/IconVerticalSolidList"/>
    <dgm:cxn modelId="{7B01156C-E9CD-46A8-A4FF-8B2EC2EE8D8E}" type="presParOf" srcId="{D293B584-4DF2-4C9F-A2B0-8CAF8EFE7EB9}" destId="{0F6675EA-3572-45B8-85BD-BF3D7BF2B02C}" srcOrd="1" destOrd="0" presId="urn:microsoft.com/office/officeart/2018/2/layout/IconVerticalSolidList"/>
    <dgm:cxn modelId="{B1E26831-DA46-4E19-9C30-4DDA20B20056}" type="presParOf" srcId="{D293B584-4DF2-4C9F-A2B0-8CAF8EFE7EB9}" destId="{15E8A5ED-2394-43DF-AC08-C3E0AB857A05}" srcOrd="2" destOrd="0" presId="urn:microsoft.com/office/officeart/2018/2/layout/IconVerticalSolidList"/>
    <dgm:cxn modelId="{2BDF4CE2-EF13-4AEA-9590-2819A11505BD}" type="presParOf" srcId="{D293B584-4DF2-4C9F-A2B0-8CAF8EFE7EB9}" destId="{C629D353-D73A-42FB-A87A-9A1523337CA5}" srcOrd="3" destOrd="0" presId="urn:microsoft.com/office/officeart/2018/2/layout/IconVerticalSolidList"/>
    <dgm:cxn modelId="{3B5BEDEE-B8AB-4B94-9A98-A909C8DE2CA1}" type="presParOf" srcId="{B698B0CC-EBCE-4737-B23C-8FCB7C7D0126}" destId="{840016BD-DC11-4CF6-AACD-C52A2A7A2F07}" srcOrd="1" destOrd="0" presId="urn:microsoft.com/office/officeart/2018/2/layout/IconVerticalSolidList"/>
    <dgm:cxn modelId="{771BFB88-1D9F-4AD9-A70B-0A46023A02C8}" type="presParOf" srcId="{B698B0CC-EBCE-4737-B23C-8FCB7C7D0126}" destId="{E8B86939-1068-4F6C-9C5B-DC292858360B}" srcOrd="2" destOrd="0" presId="urn:microsoft.com/office/officeart/2018/2/layout/IconVerticalSolidList"/>
    <dgm:cxn modelId="{A6A87063-6108-4617-BC5B-66DE0D01B246}" type="presParOf" srcId="{E8B86939-1068-4F6C-9C5B-DC292858360B}" destId="{31DDC1B0-84FD-4D49-803D-BD2A70527405}" srcOrd="0" destOrd="0" presId="urn:microsoft.com/office/officeart/2018/2/layout/IconVerticalSolidList"/>
    <dgm:cxn modelId="{303882D6-013A-4D45-87BF-73C1F9C16E21}" type="presParOf" srcId="{E8B86939-1068-4F6C-9C5B-DC292858360B}" destId="{35836FD7-1EA8-400B-973A-2269DE6EB971}" srcOrd="1" destOrd="0" presId="urn:microsoft.com/office/officeart/2018/2/layout/IconVerticalSolidList"/>
    <dgm:cxn modelId="{04A1770B-0B81-4309-863A-EFFEADC14F41}" type="presParOf" srcId="{E8B86939-1068-4F6C-9C5B-DC292858360B}" destId="{3258BC4E-6352-42AC-9FD6-85BA65A67A05}" srcOrd="2" destOrd="0" presId="urn:microsoft.com/office/officeart/2018/2/layout/IconVerticalSolidList"/>
    <dgm:cxn modelId="{4F0B6747-071C-4FCB-9770-4783C10A018B}" type="presParOf" srcId="{E8B86939-1068-4F6C-9C5B-DC292858360B}" destId="{CD58543D-F12D-434C-BD23-2815EFFDB766}" srcOrd="3" destOrd="0" presId="urn:microsoft.com/office/officeart/2018/2/layout/IconVerticalSolidList"/>
    <dgm:cxn modelId="{88C03AD4-EF86-45DA-BB08-32D155C3EAB2}" type="presParOf" srcId="{B698B0CC-EBCE-4737-B23C-8FCB7C7D0126}" destId="{AEA2F228-0865-46AF-8ECF-57D6875DD510}" srcOrd="3" destOrd="0" presId="urn:microsoft.com/office/officeart/2018/2/layout/IconVerticalSolidList"/>
    <dgm:cxn modelId="{2F10C42A-6D3A-4C04-8EF3-73DB396681A1}" type="presParOf" srcId="{B698B0CC-EBCE-4737-B23C-8FCB7C7D0126}" destId="{3FB83D58-EA3A-4DA0-ACEB-E5B342A5AB57}" srcOrd="4" destOrd="0" presId="urn:microsoft.com/office/officeart/2018/2/layout/IconVerticalSolidList"/>
    <dgm:cxn modelId="{91D5840F-98FA-4EDC-BDDA-1FF587DBF418}" type="presParOf" srcId="{3FB83D58-EA3A-4DA0-ACEB-E5B342A5AB57}" destId="{1BCDC956-BE9B-4EEC-B591-D52C0833A578}" srcOrd="0" destOrd="0" presId="urn:microsoft.com/office/officeart/2018/2/layout/IconVerticalSolidList"/>
    <dgm:cxn modelId="{5E47C2EC-FAE0-4742-A586-BDE366DA4006}" type="presParOf" srcId="{3FB83D58-EA3A-4DA0-ACEB-E5B342A5AB57}" destId="{D9F3254B-432F-482D-83C5-EFFE81A8B976}" srcOrd="1" destOrd="0" presId="urn:microsoft.com/office/officeart/2018/2/layout/IconVerticalSolidList"/>
    <dgm:cxn modelId="{10DA76CF-2403-489E-BBF8-588733B40850}" type="presParOf" srcId="{3FB83D58-EA3A-4DA0-ACEB-E5B342A5AB57}" destId="{9300B512-7FFC-48DE-B10C-35ADBA19153F}" srcOrd="2" destOrd="0" presId="urn:microsoft.com/office/officeart/2018/2/layout/IconVerticalSolidList"/>
    <dgm:cxn modelId="{3333B63E-B3E0-48AD-9A5F-3BA8D0874717}" type="presParOf" srcId="{3FB83D58-EA3A-4DA0-ACEB-E5B342A5AB57}" destId="{A988EAF7-7F9A-47A4-B996-0D935B0BB1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7B7486-2B9F-472F-8F0E-D078253223D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A84C32-F8BA-4B36-AE2A-77F646E3A145}">
      <dgm:prSet custT="1"/>
      <dgm:spPr/>
      <dgm:t>
        <a:bodyPr/>
        <a:lstStyle/>
        <a:p>
          <a:r>
            <a:rPr 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Hopfield </a:t>
          </a:r>
          <a:r>
            <a:rPr lang="zh-TW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對 </a:t>
          </a:r>
          <a:r>
            <a:rPr 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missing </a:t>
          </a:r>
          <a:r>
            <a:rPr lang="zh-TW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容忍度 </a:t>
          </a:r>
          <a:r>
            <a:rPr lang="en-US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&gt; noise</a:t>
          </a:r>
        </a:p>
      </dgm:t>
    </dgm:pt>
    <dgm:pt modelId="{147C22E6-F9D7-4503-A210-F8C62D757DC9}" type="parTrans" cxnId="{E9FE4A4F-42C0-448D-92D9-DD2C42DC84F5}">
      <dgm:prSet/>
      <dgm:spPr/>
      <dgm:t>
        <a:bodyPr/>
        <a:lstStyle/>
        <a:p>
          <a:endParaRPr lang="en-US"/>
        </a:p>
      </dgm:t>
    </dgm:pt>
    <dgm:pt modelId="{18B8C10F-6767-4414-A758-AD78133CA51F}" type="sibTrans" cxnId="{E9FE4A4F-42C0-448D-92D9-DD2C42DC84F5}">
      <dgm:prSet/>
      <dgm:spPr/>
      <dgm:t>
        <a:bodyPr/>
        <a:lstStyle/>
        <a:p>
          <a:endParaRPr lang="en-US"/>
        </a:p>
      </dgm:t>
    </dgm:pt>
    <dgm:pt modelId="{C330B86F-D852-4FCF-929F-D249FB76F202}">
      <dgm:prSet custT="1"/>
      <dgm:spPr/>
      <dgm:t>
        <a:bodyPr/>
        <a:lstStyle/>
        <a:p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digit 5 </a:t>
          </a:r>
          <a:r>
            <a:rPr lang="zh-TW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擁有最大吸引子盆地（最穩）</a:t>
          </a:r>
          <a:endParaRPr lang="en-US" sz="2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28C6B627-E55B-41C8-9CFD-C15AB44069E7}" type="parTrans" cxnId="{79A813F4-7390-4388-96A9-5D0414718E6E}">
      <dgm:prSet/>
      <dgm:spPr/>
      <dgm:t>
        <a:bodyPr/>
        <a:lstStyle/>
        <a:p>
          <a:endParaRPr lang="en-US"/>
        </a:p>
      </dgm:t>
    </dgm:pt>
    <dgm:pt modelId="{8EC2546E-2A53-4C88-90CD-AB9CFA4A65A9}" type="sibTrans" cxnId="{79A813F4-7390-4388-96A9-5D0414718E6E}">
      <dgm:prSet/>
      <dgm:spPr/>
      <dgm:t>
        <a:bodyPr/>
        <a:lstStyle/>
        <a:p>
          <a:endParaRPr lang="en-US"/>
        </a:p>
      </dgm:t>
    </dgm:pt>
    <dgm:pt modelId="{D731A08D-EE18-446C-A237-E91CBEC0A7DA}">
      <dgm:prSet custT="1"/>
      <dgm:spPr/>
      <dgm:t>
        <a:bodyPr/>
        <a:lstStyle/>
        <a:p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Energy </a:t>
          </a:r>
          <a:r>
            <a:rPr lang="zh-TW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曲線顯示系統皆能正確收斂，符合理論</a:t>
          </a:r>
          <a:endParaRPr lang="en-US" sz="2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0C913FD8-141C-4D69-B0FB-96F170D241C1}" type="parTrans" cxnId="{4E1075CD-66FF-463A-ABE8-9EFB5C11D738}">
      <dgm:prSet/>
      <dgm:spPr/>
      <dgm:t>
        <a:bodyPr/>
        <a:lstStyle/>
        <a:p>
          <a:endParaRPr lang="en-US"/>
        </a:p>
      </dgm:t>
    </dgm:pt>
    <dgm:pt modelId="{16181BFA-A2D7-46B0-B3DA-4893E1D427F8}" type="sibTrans" cxnId="{4E1075CD-66FF-463A-ABE8-9EFB5C11D738}">
      <dgm:prSet/>
      <dgm:spPr/>
      <dgm:t>
        <a:bodyPr/>
        <a:lstStyle/>
        <a:p>
          <a:endParaRPr lang="en-US"/>
        </a:p>
      </dgm:t>
    </dgm:pt>
    <dgm:pt modelId="{69D9D088-F709-4356-930A-BFA58FD06B0A}" type="pres">
      <dgm:prSet presAssocID="{B37B7486-2B9F-472F-8F0E-D078253223DF}" presName="vert0" presStyleCnt="0">
        <dgm:presLayoutVars>
          <dgm:dir/>
          <dgm:animOne val="branch"/>
          <dgm:animLvl val="lvl"/>
        </dgm:presLayoutVars>
      </dgm:prSet>
      <dgm:spPr/>
    </dgm:pt>
    <dgm:pt modelId="{968E2458-3825-4666-BA45-03D300CFDC1A}" type="pres">
      <dgm:prSet presAssocID="{D9A84C32-F8BA-4B36-AE2A-77F646E3A145}" presName="thickLine" presStyleLbl="alignNode1" presStyleIdx="0" presStyleCnt="3"/>
      <dgm:spPr/>
    </dgm:pt>
    <dgm:pt modelId="{224D4657-9B9C-429A-9A04-D510EFAB90A2}" type="pres">
      <dgm:prSet presAssocID="{D9A84C32-F8BA-4B36-AE2A-77F646E3A145}" presName="horz1" presStyleCnt="0"/>
      <dgm:spPr/>
    </dgm:pt>
    <dgm:pt modelId="{687A215E-8143-4687-AB98-DB8C805E26B6}" type="pres">
      <dgm:prSet presAssocID="{D9A84C32-F8BA-4B36-AE2A-77F646E3A145}" presName="tx1" presStyleLbl="revTx" presStyleIdx="0" presStyleCnt="3"/>
      <dgm:spPr/>
    </dgm:pt>
    <dgm:pt modelId="{F9BD2829-BD1C-4D53-A74B-A5E2B611D90A}" type="pres">
      <dgm:prSet presAssocID="{D9A84C32-F8BA-4B36-AE2A-77F646E3A145}" presName="vert1" presStyleCnt="0"/>
      <dgm:spPr/>
    </dgm:pt>
    <dgm:pt modelId="{F763832C-F5E4-4EE0-8BE1-0A5205B5C3B8}" type="pres">
      <dgm:prSet presAssocID="{C330B86F-D852-4FCF-929F-D249FB76F202}" presName="thickLine" presStyleLbl="alignNode1" presStyleIdx="1" presStyleCnt="3"/>
      <dgm:spPr/>
    </dgm:pt>
    <dgm:pt modelId="{B95F0EE9-1282-4212-A43F-C358B3096580}" type="pres">
      <dgm:prSet presAssocID="{C330B86F-D852-4FCF-929F-D249FB76F202}" presName="horz1" presStyleCnt="0"/>
      <dgm:spPr/>
    </dgm:pt>
    <dgm:pt modelId="{2FBB8F62-7230-4062-9D5F-A04B4FE810B7}" type="pres">
      <dgm:prSet presAssocID="{C330B86F-D852-4FCF-929F-D249FB76F202}" presName="tx1" presStyleLbl="revTx" presStyleIdx="1" presStyleCnt="3"/>
      <dgm:spPr/>
    </dgm:pt>
    <dgm:pt modelId="{90206FFF-9913-4BB1-844C-E64FD8319C91}" type="pres">
      <dgm:prSet presAssocID="{C330B86F-D852-4FCF-929F-D249FB76F202}" presName="vert1" presStyleCnt="0"/>
      <dgm:spPr/>
    </dgm:pt>
    <dgm:pt modelId="{226F5530-18EC-45F0-BA86-6B8430873705}" type="pres">
      <dgm:prSet presAssocID="{D731A08D-EE18-446C-A237-E91CBEC0A7DA}" presName="thickLine" presStyleLbl="alignNode1" presStyleIdx="2" presStyleCnt="3"/>
      <dgm:spPr/>
    </dgm:pt>
    <dgm:pt modelId="{3E5149BE-28CE-4888-8CDE-516C1B8D1D03}" type="pres">
      <dgm:prSet presAssocID="{D731A08D-EE18-446C-A237-E91CBEC0A7DA}" presName="horz1" presStyleCnt="0"/>
      <dgm:spPr/>
    </dgm:pt>
    <dgm:pt modelId="{99498C01-C12F-467C-83C6-1BA79306F484}" type="pres">
      <dgm:prSet presAssocID="{D731A08D-EE18-446C-A237-E91CBEC0A7DA}" presName="tx1" presStyleLbl="revTx" presStyleIdx="2" presStyleCnt="3"/>
      <dgm:spPr/>
    </dgm:pt>
    <dgm:pt modelId="{4F773788-2140-4BF0-82E6-1E39B3CE347E}" type="pres">
      <dgm:prSet presAssocID="{D731A08D-EE18-446C-A237-E91CBEC0A7DA}" presName="vert1" presStyleCnt="0"/>
      <dgm:spPr/>
    </dgm:pt>
  </dgm:ptLst>
  <dgm:cxnLst>
    <dgm:cxn modelId="{9170F801-7BAE-4E5E-9AE1-50A8F588E42A}" type="presOf" srcId="{D731A08D-EE18-446C-A237-E91CBEC0A7DA}" destId="{99498C01-C12F-467C-83C6-1BA79306F484}" srcOrd="0" destOrd="0" presId="urn:microsoft.com/office/officeart/2008/layout/LinedList"/>
    <dgm:cxn modelId="{847F7A3B-33F9-460C-ACA0-A7C6F070B6C8}" type="presOf" srcId="{C330B86F-D852-4FCF-929F-D249FB76F202}" destId="{2FBB8F62-7230-4062-9D5F-A04B4FE810B7}" srcOrd="0" destOrd="0" presId="urn:microsoft.com/office/officeart/2008/layout/LinedList"/>
    <dgm:cxn modelId="{E9FE4A4F-42C0-448D-92D9-DD2C42DC84F5}" srcId="{B37B7486-2B9F-472F-8F0E-D078253223DF}" destId="{D9A84C32-F8BA-4B36-AE2A-77F646E3A145}" srcOrd="0" destOrd="0" parTransId="{147C22E6-F9D7-4503-A210-F8C62D757DC9}" sibTransId="{18B8C10F-6767-4414-A758-AD78133CA51F}"/>
    <dgm:cxn modelId="{8593778E-BDC4-4E9F-B397-B1DBE3E5D5BE}" type="presOf" srcId="{B37B7486-2B9F-472F-8F0E-D078253223DF}" destId="{69D9D088-F709-4356-930A-BFA58FD06B0A}" srcOrd="0" destOrd="0" presId="urn:microsoft.com/office/officeart/2008/layout/LinedList"/>
    <dgm:cxn modelId="{4E1075CD-66FF-463A-ABE8-9EFB5C11D738}" srcId="{B37B7486-2B9F-472F-8F0E-D078253223DF}" destId="{D731A08D-EE18-446C-A237-E91CBEC0A7DA}" srcOrd="2" destOrd="0" parTransId="{0C913FD8-141C-4D69-B0FB-96F170D241C1}" sibTransId="{16181BFA-A2D7-46B0-B3DA-4893E1D427F8}"/>
    <dgm:cxn modelId="{3E0CDCEA-204C-477E-B006-486E2952E93E}" type="presOf" srcId="{D9A84C32-F8BA-4B36-AE2A-77F646E3A145}" destId="{687A215E-8143-4687-AB98-DB8C805E26B6}" srcOrd="0" destOrd="0" presId="urn:microsoft.com/office/officeart/2008/layout/LinedList"/>
    <dgm:cxn modelId="{79A813F4-7390-4388-96A9-5D0414718E6E}" srcId="{B37B7486-2B9F-472F-8F0E-D078253223DF}" destId="{C330B86F-D852-4FCF-929F-D249FB76F202}" srcOrd="1" destOrd="0" parTransId="{28C6B627-E55B-41C8-9CFD-C15AB44069E7}" sibTransId="{8EC2546E-2A53-4C88-90CD-AB9CFA4A65A9}"/>
    <dgm:cxn modelId="{B71AC453-E1A9-400D-A610-B016ED635F96}" type="presParOf" srcId="{69D9D088-F709-4356-930A-BFA58FD06B0A}" destId="{968E2458-3825-4666-BA45-03D300CFDC1A}" srcOrd="0" destOrd="0" presId="urn:microsoft.com/office/officeart/2008/layout/LinedList"/>
    <dgm:cxn modelId="{CCFD4EC4-D99A-4EB2-A416-DEEBC8F8BD05}" type="presParOf" srcId="{69D9D088-F709-4356-930A-BFA58FD06B0A}" destId="{224D4657-9B9C-429A-9A04-D510EFAB90A2}" srcOrd="1" destOrd="0" presId="urn:microsoft.com/office/officeart/2008/layout/LinedList"/>
    <dgm:cxn modelId="{FF9361FA-5437-4076-8152-D8CDC938CA90}" type="presParOf" srcId="{224D4657-9B9C-429A-9A04-D510EFAB90A2}" destId="{687A215E-8143-4687-AB98-DB8C805E26B6}" srcOrd="0" destOrd="0" presId="urn:microsoft.com/office/officeart/2008/layout/LinedList"/>
    <dgm:cxn modelId="{78EF9359-1248-4B7D-B76F-5BC40FEA10D0}" type="presParOf" srcId="{224D4657-9B9C-429A-9A04-D510EFAB90A2}" destId="{F9BD2829-BD1C-4D53-A74B-A5E2B611D90A}" srcOrd="1" destOrd="0" presId="urn:microsoft.com/office/officeart/2008/layout/LinedList"/>
    <dgm:cxn modelId="{0D7EB4A3-A4F9-4994-B1D0-0017C455DB16}" type="presParOf" srcId="{69D9D088-F709-4356-930A-BFA58FD06B0A}" destId="{F763832C-F5E4-4EE0-8BE1-0A5205B5C3B8}" srcOrd="2" destOrd="0" presId="urn:microsoft.com/office/officeart/2008/layout/LinedList"/>
    <dgm:cxn modelId="{AF8F5A9A-44C4-4CF6-9899-273EED00F3C5}" type="presParOf" srcId="{69D9D088-F709-4356-930A-BFA58FD06B0A}" destId="{B95F0EE9-1282-4212-A43F-C358B3096580}" srcOrd="3" destOrd="0" presId="urn:microsoft.com/office/officeart/2008/layout/LinedList"/>
    <dgm:cxn modelId="{34301503-D4A4-492B-9765-1BC3418B49BF}" type="presParOf" srcId="{B95F0EE9-1282-4212-A43F-C358B3096580}" destId="{2FBB8F62-7230-4062-9D5F-A04B4FE810B7}" srcOrd="0" destOrd="0" presId="urn:microsoft.com/office/officeart/2008/layout/LinedList"/>
    <dgm:cxn modelId="{446CE4A1-EC6F-4016-B0C6-94C88CAD5615}" type="presParOf" srcId="{B95F0EE9-1282-4212-A43F-C358B3096580}" destId="{90206FFF-9913-4BB1-844C-E64FD8319C91}" srcOrd="1" destOrd="0" presId="urn:microsoft.com/office/officeart/2008/layout/LinedList"/>
    <dgm:cxn modelId="{2A2EEF0D-D71B-41F3-ACC2-2C756C67F453}" type="presParOf" srcId="{69D9D088-F709-4356-930A-BFA58FD06B0A}" destId="{226F5530-18EC-45F0-BA86-6B8430873705}" srcOrd="4" destOrd="0" presId="urn:microsoft.com/office/officeart/2008/layout/LinedList"/>
    <dgm:cxn modelId="{EF519D21-23FA-4E69-9977-73BD8EC0CA64}" type="presParOf" srcId="{69D9D088-F709-4356-930A-BFA58FD06B0A}" destId="{3E5149BE-28CE-4888-8CDE-516C1B8D1D03}" srcOrd="5" destOrd="0" presId="urn:microsoft.com/office/officeart/2008/layout/LinedList"/>
    <dgm:cxn modelId="{A0BA03F4-88E0-4253-BE8B-A36DF0A7FE72}" type="presParOf" srcId="{3E5149BE-28CE-4888-8CDE-516C1B8D1D03}" destId="{99498C01-C12F-467C-83C6-1BA79306F484}" srcOrd="0" destOrd="0" presId="urn:microsoft.com/office/officeart/2008/layout/LinedList"/>
    <dgm:cxn modelId="{A69F1141-5F3B-41BB-B0B9-BD2F1249910F}" type="presParOf" srcId="{3E5149BE-28CE-4888-8CDE-516C1B8D1D03}" destId="{4F773788-2140-4BF0-82E6-1E39B3CE34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2661D-FD9C-4112-B808-536CCCAC8748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675EA-3572-45B8-85BD-BF3D7BF2B02C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9D353-D73A-42FB-A87A-9A1523337CA5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建立 </a:t>
          </a:r>
          <a:r>
            <a:rPr lang="en-US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Hopfield </a:t>
          </a: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網路儲存五個數字（</a:t>
          </a:r>
          <a:r>
            <a:rPr lang="en-US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1,3,5,7,9</a:t>
          </a: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en-US" sz="25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9120" y="673"/>
        <a:ext cx="4545103" cy="1574995"/>
      </dsp:txXfrm>
    </dsp:sp>
    <dsp:sp modelId="{31DDC1B0-84FD-4D49-803D-BD2A70527405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36FD7-1EA8-400B-973A-2269DE6EB971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8543D-F12D-434C-BD23-2815EFFDB766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測試網路在 </a:t>
          </a:r>
          <a:r>
            <a:rPr lang="en-US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noise </a:t>
          </a: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與 </a:t>
          </a:r>
          <a:r>
            <a:rPr lang="en-US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missing </a:t>
          </a: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擾動下的 </a:t>
          </a:r>
          <a:r>
            <a:rPr lang="en-US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recall </a:t>
          </a: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能力</a:t>
          </a:r>
          <a:endParaRPr lang="en-US" sz="25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9120" y="1969418"/>
        <a:ext cx="4545103" cy="1574995"/>
      </dsp:txXfrm>
    </dsp:sp>
    <dsp:sp modelId="{1BCDC956-BE9B-4EEC-B591-D52C0833A578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3254B-432F-482D-83C5-EFFE81A8B976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8EAF7-7F9A-47A4-B996-0D935B0BB1B1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分析 能量收斂 與 不同 </a:t>
          </a:r>
          <a:r>
            <a:rPr lang="en-US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digit </a:t>
          </a:r>
          <a:r>
            <a:rPr lang="zh-TW" sz="2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之間穩定度的差異</a:t>
          </a:r>
          <a:endParaRPr lang="en-US" sz="25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9120" y="3938162"/>
        <a:ext cx="4545103" cy="1574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E2458-3825-4666-BA45-03D300CFDC1A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A215E-8143-4687-AB98-DB8C805E26B6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Hopfield </a:t>
          </a:r>
          <a:r>
            <a:rPr lang="zh-TW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對 </a:t>
          </a:r>
          <a:r>
            <a:rPr 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missing </a:t>
          </a:r>
          <a:r>
            <a:rPr lang="zh-TW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容忍度 </a:t>
          </a:r>
          <a:r>
            <a:rPr lang="en-US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&gt; noise</a:t>
          </a:r>
        </a:p>
      </dsp:txBody>
      <dsp:txXfrm>
        <a:off x="0" y="2700"/>
        <a:ext cx="6291714" cy="1841777"/>
      </dsp:txXfrm>
    </dsp:sp>
    <dsp:sp modelId="{F763832C-F5E4-4EE0-8BE1-0A5205B5C3B8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B8F62-7230-4062-9D5F-A04B4FE810B7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digit 5 </a:t>
          </a:r>
          <a:r>
            <a:rPr lang="zh-TW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擁有最大吸引子盆地（最穩）</a:t>
          </a:r>
          <a:endParaRPr lang="en-US" sz="2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0" y="1844478"/>
        <a:ext cx="6291714" cy="1841777"/>
      </dsp:txXfrm>
    </dsp:sp>
    <dsp:sp modelId="{226F5530-18EC-45F0-BA86-6B8430873705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98C01-C12F-467C-83C6-1BA79306F484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Energy </a:t>
          </a:r>
          <a:r>
            <a:rPr lang="zh-TW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曲線顯示系統皆能正確收斂，符合理論</a:t>
          </a:r>
          <a:endParaRPr lang="en-US" sz="2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2DE1D-2901-7A63-7984-36171C1C9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6726E5-ECC0-FFF8-9BF9-C8CF4DE3B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3719CD-4944-6C74-E6F2-F4415A678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FC47FA-83ED-2EB7-A0BE-2145D2F1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B9024D-C199-401C-E187-C79A087B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D8F4F2-278D-DF68-E6FF-655E79E5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C09CC1-75D3-C490-8385-8B4D03FF0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AD7D8-E6F3-18AE-1156-4D1B0DA1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8A704F-09F5-4FEC-6EE0-E7FF0526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EE3AFD-DA95-1807-53EB-8BC475BD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15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FC3AE-FF32-892E-EEB7-5A9B1558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25E807-324A-C888-3E15-F7D15BACD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05D9A1-3B60-5BBA-12BF-09B00024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39EBEA-A6B2-AC9B-D5F5-F284E6AA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83142C-4923-EB96-9F8A-63DFB16C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096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778D18-E17B-97DC-841C-6FBF6BEC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4CC55E-F46B-8D93-D2DA-BF549B425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D858C87-2225-4FAE-F0D9-5EAA9B007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C27CC9-CE2A-C721-7ECD-AD53EC90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7615C9-88FB-DA9E-5578-7DFE83C0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D288E9-91BE-F342-667B-676A5D59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49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0B7E53-FEB3-1FBD-0887-5608CD24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4B5F69-6AF9-B8BC-CDD7-79C158ADC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E0EE9F-0C65-F42D-824C-ABDD04E9C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27B2355-6243-EA07-9002-0515C3151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E0D40AC-6AF6-6003-65A4-2B4E7AFD1A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EECF4AA-F00D-1285-616A-7DB6B42F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7EBF53F-C34B-E17E-4020-446ADF88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715DB0-45E4-E99D-DD61-830BE59F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64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6A2B6E-2C35-550D-89E3-C8FE4F9E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A4C0BC7-A259-8F72-3D5C-D99DB639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1F1AEEE-1023-DB14-BEC9-668683BD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DC06AF-BCA4-9D90-3620-3ED6153E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849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CF0AB3-9520-A64B-2D14-CE3FB935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E70D44F-407E-0346-76C9-B792FA88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6CB3A5-089B-1571-336A-4E611B78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559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94099-5641-0314-EAD1-C56D1B86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E0B14F-7A0A-2255-D600-99350E2FC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BE0885-5A02-0F64-783D-9D6053922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143C54-D654-CF69-ABB0-00E39538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F3AAF8-F7C5-EB4D-32C2-BF692FEA1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5BDF20-6907-3FD2-6CFF-93F26A6E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28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E45FA-860D-318C-0887-4E27352E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DC474A1-D95E-9C7C-D3E2-E488685E2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788E22-D7B0-1D0B-6B49-F3D2A6534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984499-D4BD-915D-79ED-94B8F038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8E810A-EB07-BF35-6139-C2E8C44E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E386FB-FEC9-DB64-DE3C-1158B6B7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98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640F0-8833-8AE3-E965-EFF8104B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AE2E6D-E5EB-6DA1-F054-1A52E37AC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A278E2-B94F-5CB3-90CF-F54DAE10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F2814C-F004-683C-DD60-B412B6DA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571DAD-3DC7-98BC-19C8-7B1D71B0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60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D7290-E74D-DDC4-572F-0DCEBF58D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F3047AB-B2CE-515B-AD8D-F6D46616D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790F03-A9ED-1597-C86E-357D584F5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BF0E78-1F2D-22F7-47E9-21656233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1F5A2A-C6ED-42DE-23C1-EF9580E1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67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444ABCD-A248-C27F-1671-6880018A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F91BFC-7A33-96F0-A1CA-2649D8F1D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2B9EAE-F5A6-D72C-876B-A069E5933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56DE2-0C89-43F3-A486-CAAF6EF3500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E129C5-6532-7D87-50B8-D91ED661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A5509E-9ED1-127A-36C5-1E8E7EBFF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99CA7-0600-4598-8D86-3C14D763EC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29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8408F0C-1CB6-AABB-3789-9307D5F22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zh-TW" sz="6600" dirty="0"/>
              <a:t>Hopfield Neural Network — Simulation #3</a:t>
            </a:r>
            <a:endParaRPr lang="zh-TW" altLang="en-US" sz="6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6BADE1-E1CF-75EB-F0A5-ED1646B0F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zh-TW" altLang="en-US">
                <a:latin typeface="Aptos" panose="020B0004020202020204" pitchFamily="34" charset="0"/>
                <a:ea typeface="微軟正黑體" panose="020B0604030504040204" pitchFamily="34" charset="-120"/>
              </a:rPr>
              <a:t>桑瑋佑 </a:t>
            </a:r>
            <a:r>
              <a:rPr lang="en-US" altLang="zh-TW">
                <a:latin typeface="Aptos" panose="020B0004020202020204" pitchFamily="34" charset="0"/>
                <a:ea typeface="微軟正黑體" panose="020B0604030504040204" pitchFamily="34" charset="-120"/>
              </a:rPr>
              <a:t>11467013</a:t>
            </a:r>
            <a:r>
              <a:rPr lang="zh-TW" altLang="en-US">
                <a:latin typeface="Aptos" panose="020B0004020202020204" pitchFamily="34" charset="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7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C152745-D97D-F38F-3591-34D61ADF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zh-TW" sz="4000"/>
              <a:t>Objective</a:t>
            </a:r>
            <a:endParaRPr lang="zh-TW" altLang="en-US" sz="4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5" name="內容版面配置區 2">
            <a:extLst>
              <a:ext uri="{FF2B5EF4-FFF2-40B4-BE49-F238E27FC236}">
                <a16:creationId xmlns:a16="http://schemas.microsoft.com/office/drawing/2014/main" id="{30438769-1DCD-37D4-57D4-9CC1D2549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04609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936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0F7A75-8980-0561-AD51-4ED0E165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altLang="zh-TW" sz="5400" dirty="0"/>
              <a:t>Network Structure</a:t>
            </a:r>
            <a:endParaRPr lang="zh-TW" altLang="en-US" sz="54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FA11D37-C4D7-88D7-9328-9E3FF2A17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839" y="1018668"/>
            <a:ext cx="5903066" cy="2951533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C58C25-8CD1-A2BD-96DC-6B7683B9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Input dimension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10×10 = 100 neurons</a:t>
            </a:r>
          </a:p>
          <a:p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Patterns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 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</a:t>
            </a:r>
          </a:p>
          <a:p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全連接權重矩陣：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100×100</a:t>
            </a:r>
            <a:endParaRPr lang="zh-TW" alt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352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圖表, 螢幕擷取畫面, 收據 的圖片&#10;&#10;AI 產生的內容可能不正確。">
            <a:extLst>
              <a:ext uri="{FF2B5EF4-FFF2-40B4-BE49-F238E27FC236}">
                <a16:creationId xmlns:a16="http://schemas.microsoft.com/office/drawing/2014/main" id="{5206F2AF-DB75-378C-1501-3DC890E7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2" y="-187978"/>
            <a:ext cx="3104866" cy="7045978"/>
          </a:xfrm>
          <a:prstGeom prst="rect">
            <a:avLst/>
          </a:prstGeom>
        </p:spPr>
      </p:pic>
      <p:pic>
        <p:nvPicPr>
          <p:cNvPr id="7" name="圖片 6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D8EB49B9-06D3-6BE9-628C-602AF0B48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259" y="2458207"/>
            <a:ext cx="2960131" cy="475362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C715342E-A2E1-482D-A843-622F7F32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390" y="990600"/>
            <a:ext cx="5610368" cy="820738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Noise / Missing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6A7A6E8-7712-972E-8247-4697AC4F7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390" y="1811338"/>
            <a:ext cx="4861410" cy="4005263"/>
          </a:xfrm>
        </p:spPr>
        <p:txBody>
          <a:bodyPr>
            <a:norm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noise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↔ -1 flip</a:t>
            </a:r>
          </a:p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missing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：變成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358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B0CEF1-DE0B-A651-972A-6315CF4B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Recall Demo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ACD54A-94C9-0A9E-1574-58377E961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246" y="4699668"/>
            <a:ext cx="2451156" cy="532643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noise 0.2</a:t>
            </a:r>
          </a:p>
        </p:txBody>
      </p:sp>
      <p:pic>
        <p:nvPicPr>
          <p:cNvPr id="5" name="圖片 4" descr="一張含有 文字, 螢幕擷取畫面, 時鐘, 計分板 的圖片&#10;&#10;AI 產生的內容可能不正確。">
            <a:extLst>
              <a:ext uri="{FF2B5EF4-FFF2-40B4-BE49-F238E27FC236}">
                <a16:creationId xmlns:a16="http://schemas.microsoft.com/office/drawing/2014/main" id="{0D7929BC-20C9-D619-D3EC-175C5A342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61" y="1498356"/>
            <a:ext cx="5545541" cy="3121031"/>
          </a:xfrm>
          <a:prstGeom prst="rect">
            <a:avLst/>
          </a:prstGeom>
        </p:spPr>
      </p:pic>
      <p:pic>
        <p:nvPicPr>
          <p:cNvPr id="7" name="圖片 6" descr="一張含有 螢幕擷取畫面, 文字, 計分板 的圖片&#10;&#10;AI 產生的內容可能不正確。">
            <a:extLst>
              <a:ext uri="{FF2B5EF4-FFF2-40B4-BE49-F238E27FC236}">
                <a16:creationId xmlns:a16="http://schemas.microsoft.com/office/drawing/2014/main" id="{F63989B7-9758-8788-F938-A892F8440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802" y="1498356"/>
            <a:ext cx="5545541" cy="3121031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8E5BC0-36E9-EB04-6E1E-2C06575D99E0}"/>
              </a:ext>
            </a:extLst>
          </p:cNvPr>
          <p:cNvSpPr txBox="1">
            <a:spLocks/>
          </p:cNvSpPr>
          <p:nvPr/>
        </p:nvSpPr>
        <p:spPr>
          <a:xfrm>
            <a:off x="8142692" y="4699668"/>
            <a:ext cx="2243881" cy="416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/>
              <a:t>missing 0.3</a:t>
            </a:r>
          </a:p>
        </p:txBody>
      </p:sp>
    </p:spTree>
    <p:extLst>
      <p:ext uri="{BB962C8B-B14F-4D97-AF65-F5344CB8AC3E}">
        <p14:creationId xmlns:p14="http://schemas.microsoft.com/office/powerpoint/2010/main" val="172721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273F717-7F74-AF95-9F7F-AB82FFC9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6600"/>
              <a:t>Tables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2C0237B-D371-7393-EF2B-B58B30A3F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23" y="-6755"/>
            <a:ext cx="3090360" cy="686475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1917514-E489-2D77-CFFD-3B6E29513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26" y="1"/>
            <a:ext cx="3148954" cy="6858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759B95E-E65C-0102-810C-D89C865DB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254" y="2373832"/>
            <a:ext cx="5485492" cy="583091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9E2F64B-5A6B-BCAF-8A0C-1EE2B45E0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989" y="3337560"/>
            <a:ext cx="4174234" cy="90830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altLang="zh-TW" sz="1800" dirty="0"/>
              <a:t>Noise Success</a:t>
            </a:r>
            <a:r>
              <a:rPr lang="zh-TW" altLang="fr-FR" sz="1800" dirty="0"/>
              <a:t>：</a:t>
            </a:r>
            <a:r>
              <a:rPr lang="fr-FR" altLang="zh-TW" sz="1800" dirty="0"/>
              <a:t>5 &gt; 1 &gt; </a:t>
            </a:r>
            <a:r>
              <a:rPr lang="en-US" altLang="zh-TW" sz="1800" dirty="0"/>
              <a:t>9</a:t>
            </a:r>
            <a:r>
              <a:rPr lang="fr-FR" altLang="zh-TW" sz="1800" dirty="0"/>
              <a:t> &gt; </a:t>
            </a:r>
            <a:r>
              <a:rPr lang="en-US" altLang="zh-TW" sz="1800" dirty="0"/>
              <a:t>7</a:t>
            </a:r>
            <a:r>
              <a:rPr lang="fr-FR" altLang="zh-TW" sz="1800" dirty="0"/>
              <a:t> &gt; 3</a:t>
            </a:r>
            <a:endParaRPr lang="zh-TW" altLang="en-US" sz="1800" dirty="0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0FF3F29C-BDF7-145E-B1A9-2EB270A5A741}"/>
              </a:ext>
            </a:extLst>
          </p:cNvPr>
          <p:cNvSpPr txBox="1">
            <a:spLocks/>
          </p:cNvSpPr>
          <p:nvPr/>
        </p:nvSpPr>
        <p:spPr>
          <a:xfrm>
            <a:off x="4297075" y="3887755"/>
            <a:ext cx="4174234" cy="9083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altLang="zh-TW" sz="1800" dirty="0"/>
              <a:t>Missing Success</a:t>
            </a:r>
            <a:r>
              <a:rPr lang="zh-TW" altLang="fr-FR" sz="1800" dirty="0"/>
              <a:t>：</a:t>
            </a:r>
            <a:r>
              <a:rPr lang="fr-FR" altLang="zh-TW" sz="1800" dirty="0"/>
              <a:t>5 &gt; 1 &gt; 7 &gt; 9 &gt; 3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8793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4AD21E81-0B98-E101-F539-00CF6F70E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16365"/>
            <a:ext cx="10905066" cy="542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5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40B74B37-F4BD-94D2-A9E7-43390818C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16365"/>
            <a:ext cx="10905066" cy="542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58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793980-1EEB-2CEB-6204-790A554B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altLang="zh-TW" sz="5400">
                <a:latin typeface="微軟正黑體" panose="020B0604030504040204" pitchFamily="34" charset="-120"/>
                <a:ea typeface="微軟正黑體" panose="020B0604030504040204" pitchFamily="34" charset="-120"/>
              </a:rPr>
              <a:t>Noise vs Accuracy</a:t>
            </a:r>
            <a:endParaRPr lang="zh-TW" altLang="en-US" sz="5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066FEA37-3405-4BFC-C9BC-6B489D92C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30936"/>
            <a:ext cx="6550014" cy="3913632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9E6A29-4FAF-0F36-E366-11F1738B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7173672" cy="1428487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5 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最穩定（</a:t>
            </a: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Noise Level 0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0.4 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幾乎不動）</a:t>
            </a:r>
            <a:endParaRPr lang="en-US" altLang="zh-TW" sz="19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1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9 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中間等級</a:t>
            </a:r>
            <a:endParaRPr lang="en-US" altLang="zh-TW" sz="19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7 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最容易被 </a:t>
            </a:r>
            <a:r>
              <a:rPr lang="en-US" altLang="zh-TW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noise </a:t>
            </a:r>
            <a:r>
              <a:rPr lang="zh-TW" altLang="en-US" sz="1900">
                <a:latin typeface="微軟正黑體" panose="020B0604030504040204" pitchFamily="34" charset="-120"/>
                <a:ea typeface="微軟正黑體" panose="020B0604030504040204" pitchFamily="34" charset="-120"/>
              </a:rPr>
              <a:t>破壞（下降最快）</a:t>
            </a:r>
          </a:p>
        </p:txBody>
      </p:sp>
    </p:spTree>
    <p:extLst>
      <p:ext uri="{BB962C8B-B14F-4D97-AF65-F5344CB8AC3E}">
        <p14:creationId xmlns:p14="http://schemas.microsoft.com/office/powerpoint/2010/main" val="3173263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BEF1FB-75FF-CEE2-8AA0-F73528C4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altLang="zh-TW" sz="1700"/>
              <a:t>Noise level =0.4</a:t>
            </a:r>
            <a:endParaRPr lang="zh-TW" altLang="en-US" sz="1700"/>
          </a:p>
        </p:txBody>
      </p:sp>
      <p:pic>
        <p:nvPicPr>
          <p:cNvPr id="7" name="圖片 6" descr="一張含有 文字, 螢幕擷取畫面, 時鐘, 計分板 的圖片&#10;&#10;AI 產生的內容可能不正確。">
            <a:extLst>
              <a:ext uri="{FF2B5EF4-FFF2-40B4-BE49-F238E27FC236}">
                <a16:creationId xmlns:a16="http://schemas.microsoft.com/office/drawing/2014/main" id="{2D204C30-B98E-8402-E995-01DC0AD5F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63" y="723331"/>
            <a:ext cx="9110637" cy="51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6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EE7EACC-8EBF-2F89-FB0D-BF58C187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altLang="zh-TW" sz="5400"/>
              <a:t>Missing vs Accuracy</a:t>
            </a:r>
            <a:endParaRPr lang="zh-TW" alt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A1BA91DB-2504-B985-DD5B-8C4027352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30936"/>
            <a:ext cx="6550014" cy="3913632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C40C87-7DD2-A4F4-18E2-0270535D7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 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missing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下都遠比 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noise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表現穩定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5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再次成為最強 → 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Missing Level 0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0.7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幾乎 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3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9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稍微弱一些，但仍保持高準確度（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&gt;94%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 1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7 </a:t>
            </a:r>
            <a:r>
              <a:rPr lang="zh-TW" altLang="en-US" sz="170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整體也屬穩定</a:t>
            </a:r>
          </a:p>
          <a:p>
            <a:endParaRPr lang="zh-TW" altLang="en-US" sz="1700"/>
          </a:p>
        </p:txBody>
      </p:sp>
    </p:spTree>
    <p:extLst>
      <p:ext uri="{BB962C8B-B14F-4D97-AF65-F5344CB8AC3E}">
        <p14:creationId xmlns:p14="http://schemas.microsoft.com/office/powerpoint/2010/main" val="18667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DD6D66-6A1A-C617-6B8E-3978C76B6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altLang="zh-TW" sz="1700"/>
              <a:t>Missing level =0.7</a:t>
            </a:r>
            <a:endParaRPr lang="zh-TW" altLang="en-US" sz="1700"/>
          </a:p>
        </p:txBody>
      </p:sp>
      <p:pic>
        <p:nvPicPr>
          <p:cNvPr id="5" name="圖片 4" descr="一張含有 螢幕擷取畫面, 文字, 計分板 的圖片&#10;&#10;AI 產生的內容可能不正確。">
            <a:extLst>
              <a:ext uri="{FF2B5EF4-FFF2-40B4-BE49-F238E27FC236}">
                <a16:creationId xmlns:a16="http://schemas.microsoft.com/office/drawing/2014/main" id="{40793992-F18F-1A39-C886-D898C2067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433" y="843534"/>
            <a:ext cx="9160567" cy="515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7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9279E3-17E4-AA62-C62D-AD1561D1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altLang="zh-TW">
                <a:solidFill>
                  <a:srgbClr val="FFFFFF"/>
                </a:solidFill>
              </a:rPr>
              <a:t>Conclusion</a:t>
            </a:r>
            <a:endParaRPr lang="zh-TW" altLang="en-US">
              <a:solidFill>
                <a:srgbClr val="FFFFFF"/>
              </a:solidFill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BDB8C7B9-FD1E-A376-12AC-30A9053281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52075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327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243</Words>
  <Application>Microsoft Office PowerPoint</Application>
  <PresentationFormat>寬螢幕</PresentationFormat>
  <Paragraphs>34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微軟正黑體</vt:lpstr>
      <vt:lpstr>Aptos</vt:lpstr>
      <vt:lpstr>Aptos Display</vt:lpstr>
      <vt:lpstr>Arial</vt:lpstr>
      <vt:lpstr>Calibri</vt:lpstr>
      <vt:lpstr>Office 佈景主題</vt:lpstr>
      <vt:lpstr>Hopfield Neural Network — Simulation #3</vt:lpstr>
      <vt:lpstr>Objective</vt:lpstr>
      <vt:lpstr>Network Structure</vt:lpstr>
      <vt:lpstr>Noise / Missing 定義</vt:lpstr>
      <vt:lpstr>Recall Demo</vt:lpstr>
      <vt:lpstr>Tables</vt:lpstr>
      <vt:lpstr>PowerPoint 簡報</vt:lpstr>
      <vt:lpstr>PowerPoint 簡報</vt:lpstr>
      <vt:lpstr>Noise vs Accuracy</vt:lpstr>
      <vt:lpstr>PowerPoint 簡報</vt:lpstr>
      <vt:lpstr>Missing vs Accuracy</vt:lpstr>
      <vt:lpstr>PowerPoint 簡報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桑瑋佑</dc:creator>
  <cp:lastModifiedBy>桑瑋佑</cp:lastModifiedBy>
  <cp:revision>3</cp:revision>
  <dcterms:created xsi:type="dcterms:W3CDTF">2025-12-11T12:57:57Z</dcterms:created>
  <dcterms:modified xsi:type="dcterms:W3CDTF">2025-12-11T14:42:11Z</dcterms:modified>
</cp:coreProperties>
</file>